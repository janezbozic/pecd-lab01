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60" r:id="rId11"/>
    <p:sldMasterId id="2147483661" r:id="rId12"/>
  </p:sldMasterIdLst>
  <p:notesMasterIdLst>
    <p:notesMasterId r:id="rId22"/>
  </p:notesMasterIdLst>
  <p:sldIdLst>
    <p:sldId id="256" r:id="rId13"/>
    <p:sldId id="257" r:id="rId14"/>
    <p:sldId id="260" r:id="rId15"/>
    <p:sldId id="261" r:id="rId16"/>
    <p:sldId id="263" r:id="rId17"/>
    <p:sldId id="264" r:id="rId18"/>
    <p:sldId id="265" r:id="rId19"/>
    <p:sldId id="266" r:id="rId20"/>
    <p:sldId id="267" r:id="rId2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5"/>
  </p:normalViewPr>
  <p:slideViewPr>
    <p:cSldViewPr snapToGrid="0">
      <p:cViewPr varScale="1">
        <p:scale>
          <a:sx n="119" d="100"/>
          <a:sy n="119" d="100"/>
        </p:scale>
        <p:origin x="5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457200"/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move the slide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83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4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5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91BCFB5-D0D4-405C-B19E-DB253B8DC99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  <a:prstGeom prst="rect">
            <a:avLst/>
          </a:prstGeom>
          <a:ln w="0">
            <a:noFill/>
          </a:ln>
        </p:spPr>
      </p:sp>
      <p:sp>
        <p:nvSpPr>
          <p:cNvPr id="268" name="TextBox 267"/>
          <p:cNvSpPr txBox="1"/>
          <p:nvPr/>
        </p:nvSpPr>
        <p:spPr>
          <a:xfrm>
            <a:off x="756000" y="5078520"/>
            <a:ext cx="6047640" cy="36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Show the exact board students received. Confirm that a data-capable USB cable is required.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Source image: course file lib/ESP32_board.png.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  <a:prstGeom prst="rect">
            <a:avLst/>
          </a:prstGeom>
          <a:ln w="0">
            <a:noFill/>
          </a:ln>
        </p:spPr>
      </p:sp>
      <p:sp>
        <p:nvSpPr>
          <p:cNvPr id="270" name="TextBox 269"/>
          <p:cNvSpPr txBox="1"/>
          <p:nvPr/>
        </p:nvSpPr>
        <p:spPr>
          <a:xfrm>
            <a:off x="756000" y="5078520"/>
            <a:ext cx="6047640" cy="36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Contrast a microcontroller with a general-purpose Raspberry Pi. This lab does not use the Raspberry Pi.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Sources: Lecture_4_arduino.pptx slide 39; ESP32 datasheet: https://www.espressif.com/sites/default/files/documentation/esp32_datasheet_en.pdf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  <a:prstGeom prst="rect">
            <a:avLst/>
          </a:prstGeom>
          <a:ln w="0">
            <a:noFill/>
          </a:ln>
        </p:spPr>
      </p:sp>
      <p:sp>
        <p:nvSpPr>
          <p:cNvPr id="276" name="TextBox 275"/>
          <p:cNvSpPr txBox="1"/>
          <p:nvPr/>
        </p:nvSpPr>
        <p:spPr>
          <a:xfrm>
            <a:off x="756000" y="5078520"/>
            <a:ext cx="6047640" cy="36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Hold the physical board in the same orientation as the pinout. Point out EN, BOOT/GPIO0, GND, 3V3 and VIN.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Source image: embedded media from Lecture_4_arduino.pptx slide 40. Electrical limits: ESP32 datasheet.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  <a:prstGeom prst="rect">
            <a:avLst/>
          </a:prstGeom>
          <a:ln w="0">
            <a:noFill/>
          </a:ln>
        </p:spPr>
      </p:sp>
      <p:sp>
        <p:nvSpPr>
          <p:cNvPr id="278" name="TextBox 277"/>
          <p:cNvSpPr txBox="1"/>
          <p:nvPr/>
        </p:nvSpPr>
        <p:spPr>
          <a:xfrm>
            <a:off x="756000" y="5078520"/>
            <a:ext cx="6047640" cy="36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Explain that the ROM bootloader receives images produced by the ESP-IDF build. Stop the monitor with Ctrl+].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Source: https://docs.espressif.com/projects/esp-idf/en/stable/esp32/get-started/index.html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  <a:prstGeom prst="rect">
            <a:avLst/>
          </a:prstGeom>
          <a:ln w="0">
            <a:noFill/>
          </a:ln>
        </p:spPr>
      </p:sp>
      <p:sp>
        <p:nvSpPr>
          <p:cNvPr id="282" name="TextBox 281"/>
          <p:cNvSpPr txBox="1"/>
          <p:nvPr/>
        </p:nvSpPr>
        <p:spPr>
          <a:xfrm>
            <a:off x="756000" y="5078520"/>
            <a:ext cx="6047640" cy="36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Verify that the core count is two and the selected target is esp32. Ask one student to distinguish flash from heap.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Source code: lab01-esp32/code/01_system_info/main/main.c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  <a:prstGeom prst="rect">
            <a:avLst/>
          </a:prstGeom>
          <a:ln w="0">
            <a:noFill/>
          </a:ln>
        </p:spPr>
      </p:sp>
      <p:sp>
        <p:nvSpPr>
          <p:cNvPr id="284" name="TextBox 283"/>
          <p:cNvSpPr txBox="1"/>
          <p:nvPr/>
        </p:nvSpPr>
        <p:spPr>
          <a:xfrm>
            <a:off x="756000" y="5078520"/>
            <a:ext cx="6047640" cy="36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exact ordering is intentionally not guaranteed. Ask what would change if both tasks wrote the same variable.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Sources: Lecture_4_arduino.pptx slides 42–43; lab01-esp32/code/02_dual_core_tasks/main/main.c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  <a:prstGeom prst="rect">
            <a:avLst/>
          </a:prstGeom>
          <a:ln w="0">
            <a:noFill/>
          </a:ln>
        </p:spPr>
      </p:sp>
      <p:sp>
        <p:nvSpPr>
          <p:cNvPr id="286" name="TextBox 285"/>
          <p:cNvSpPr txBox="1"/>
          <p:nvPr/>
        </p:nvSpPr>
        <p:spPr>
          <a:xfrm>
            <a:off x="756000" y="5078520"/>
            <a:ext cx="6047640" cy="36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Mechanical contacts bounce. The task rejects notifications arriving within 200 ms. Logging stays outside interrupt context.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Sources: https://docs.espressif.com/projects/esp-idf/en/stable/esp32/api-reference/peripherals/gpio.html; lab01-esp32/code/03_button_interrupt/main/main.c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  <a:prstGeom prst="rect">
            <a:avLst/>
          </a:prstGeom>
          <a:ln w="0">
            <a:noFill/>
          </a:ln>
        </p:spPr>
      </p:sp>
      <p:sp>
        <p:nvSpPr>
          <p:cNvPr id="288" name="TextBox 287"/>
          <p:cNvSpPr txBox="1"/>
          <p:nvPr/>
        </p:nvSpPr>
        <p:spPr>
          <a:xfrm>
            <a:off x="756000" y="5078520"/>
            <a:ext cx="6047640" cy="36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Point out the normal RAM variable after Light-sleep and the RTC_DATA_ATTR boot counter after Deep-sleep. Correct the old claim that direct Light-sleep keeps Wi-Fi connected.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Sources: Lecture_4_arduino.pptx slides 45–47; https://docs.espressif.com/projects/esp-idf/en/stable/esp32/api-reference/system/sleep_modes.html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  <a:prstGeom prst="rect">
            <a:avLst/>
          </a:prstGeom>
          <a:ln w="0">
            <a:noFill/>
          </a:ln>
        </p:spPr>
      </p:sp>
      <p:sp>
        <p:nvSpPr>
          <p:cNvPr id="290" name="TextBox 289"/>
          <p:cNvSpPr txBox="1"/>
          <p:nvPr/>
        </p:nvSpPr>
        <p:spPr>
          <a:xfrm>
            <a:off x="756000" y="5078520"/>
            <a:ext cx="6047640" cy="36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the checkpoints as a rapid oral assessment. The complete task instructions and troubleshooting table are in README.md.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Course artifact: lab01-esp32/README.md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7650C387-B8B8-E84F-3636-6E1F15284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D2235BCB-9169-40ED-8B8A-FB9F0D75A3D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457200">
              <a:buNone/>
            </a:pPr>
            <a:endParaRPr lang="en-US" sz="4000" b="0" u="none" strike="noStrik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0619E901-CA91-4DAE-9FBA-76242882B8C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FRI"/>
          <p:cNvPicPr/>
          <p:nvPr/>
        </p:nvPicPr>
        <p:blipFill>
          <a:blip r:embed="rId2"/>
          <a:stretch/>
        </p:blipFill>
        <p:spPr>
          <a:xfrm>
            <a:off x="46440" y="6183000"/>
            <a:ext cx="1873440" cy="67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title style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23C1B7-025D-493A-9E96-C2D1DD7FA4F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 defTabSz="457200"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 defTabSz="457200"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 defTabSz="45720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7pPr>
          </a:lstStyle>
          <a:p>
            <a:pPr marL="343080" indent="-343080" algn="l" defTabSz="45720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864000" lvl="1" indent="-324000" algn="l" defTabSz="457200"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1296000" lvl="2" indent="-288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728000" lvl="3" indent="-216000" algn="l" defTabSz="457200"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2160000" lvl="4" indent="-216000" algn="l" defTabSz="45720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FRI"/>
          <p:cNvPicPr/>
          <p:nvPr/>
        </p:nvPicPr>
        <p:blipFill>
          <a:blip r:embed="rId2"/>
          <a:stretch/>
        </p:blipFill>
        <p:spPr>
          <a:xfrm>
            <a:off x="46440" y="6183000"/>
            <a:ext cx="1873440" cy="67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4F4589-AFD1-418F-8A98-EF9E978222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FRI"/>
          <p:cNvPicPr/>
          <p:nvPr/>
        </p:nvPicPr>
        <p:blipFill>
          <a:blip r:embed="rId2"/>
          <a:stretch/>
        </p:blipFill>
        <p:spPr>
          <a:xfrm>
            <a:off x="46440" y="6183000"/>
            <a:ext cx="1873440" cy="67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 anchorCtr="1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title style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level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AF1BE4-B18F-4AAF-BCBC-CE6EDEF520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4" descr="FRI"/>
          <p:cNvPicPr/>
          <p:nvPr/>
        </p:nvPicPr>
        <p:blipFill>
          <a:blip r:embed="rId2"/>
          <a:stretch/>
        </p:blipFill>
        <p:spPr>
          <a:xfrm>
            <a:off x="46440" y="6183000"/>
            <a:ext cx="1873440" cy="67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GB" sz="4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GB" sz="4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D1AF12-971D-40E8-9DDE-924F061B8C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4" descr="FRI"/>
          <p:cNvPicPr/>
          <p:nvPr/>
        </p:nvPicPr>
        <p:blipFill>
          <a:blip r:embed="rId2"/>
          <a:stretch/>
        </p:blipFill>
        <p:spPr>
          <a:xfrm>
            <a:off x="46440" y="6183000"/>
            <a:ext cx="1873440" cy="67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5177D0-452F-438A-AF91-3562D3D3AA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4" descr="FRI"/>
          <p:cNvPicPr/>
          <p:nvPr/>
        </p:nvPicPr>
        <p:blipFill>
          <a:blip r:embed="rId2"/>
          <a:stretch/>
        </p:blipFill>
        <p:spPr>
          <a:xfrm>
            <a:off x="46440" y="6183000"/>
            <a:ext cx="1873440" cy="67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Roboto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Roboto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Roboto"/>
              </a:rPr>
              <a:t>Click to edit Master text styles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6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D1FC01-C734-46D3-B8B7-907B98CC2F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4" descr="FRI"/>
          <p:cNvPicPr/>
          <p:nvPr/>
        </p:nvPicPr>
        <p:blipFill>
          <a:blip r:embed="rId2"/>
          <a:stretch/>
        </p:blipFill>
        <p:spPr>
          <a:xfrm>
            <a:off x="46440" y="6183000"/>
            <a:ext cx="1873440" cy="67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level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level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CCF3D2-015C-45AD-BA94-9DE357210F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" descr="FRI"/>
          <p:cNvPicPr/>
          <p:nvPr/>
        </p:nvPicPr>
        <p:blipFill>
          <a:blip r:embed="rId2"/>
          <a:stretch/>
        </p:blipFill>
        <p:spPr>
          <a:xfrm>
            <a:off x="46440" y="6183000"/>
            <a:ext cx="1873440" cy="67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level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level</a:t>
            </a:r>
          </a:p>
        </p:txBody>
      </p:sp>
      <p:sp>
        <p:nvSpPr>
          <p:cNvPr id="50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23C4A9-C655-4D3D-A90F-5BD1045147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4" descr="FRI"/>
          <p:cNvPicPr/>
          <p:nvPr/>
        </p:nvPicPr>
        <p:blipFill>
          <a:blip r:embed="rId2"/>
          <a:stretch/>
        </p:blipFill>
        <p:spPr>
          <a:xfrm>
            <a:off x="46440" y="6183000"/>
            <a:ext cx="1873440" cy="67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title style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A97593-CD6C-460E-877B-6BF767D627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4" descr="FRI"/>
          <p:cNvPicPr/>
          <p:nvPr/>
        </p:nvPicPr>
        <p:blipFill>
          <a:blip r:embed="rId4"/>
          <a:stretch/>
        </p:blipFill>
        <p:spPr>
          <a:xfrm>
            <a:off x="46440" y="6183000"/>
            <a:ext cx="1873440" cy="67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CD2798-79A8-4615-863A-86FFE7D135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ctr" defTabSz="457200"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the title text format</a:t>
            </a: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 defTabSz="457200"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 defTabSz="457200"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 defTabSz="45720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7pPr>
          </a:lstStyle>
          <a:p>
            <a:pPr marL="343080" indent="-343080" algn="l" defTabSz="45720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864000" lvl="1" indent="-324000" algn="l" defTabSz="457200"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1296000" lvl="2" indent="-288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728000" lvl="3" indent="-216000" algn="l" defTabSz="457200"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2160000" lvl="4" indent="-216000" algn="l" defTabSz="45720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4" descr="FRI"/>
          <p:cNvPicPr/>
          <p:nvPr/>
        </p:nvPicPr>
        <p:blipFill>
          <a:blip r:embed="rId2"/>
          <a:stretch/>
        </p:blipFill>
        <p:spPr>
          <a:xfrm>
            <a:off x="46440" y="6183000"/>
            <a:ext cx="1873440" cy="67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title style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level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Master text styles</a:t>
            </a:r>
          </a:p>
        </p:txBody>
      </p:sp>
      <p:sp>
        <p:nvSpPr>
          <p:cNvPr id="70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2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66A06F-C25D-480D-9AF9-933833978A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25C1F3-F226-3AFE-6E6D-DC701CFCD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8C76D-F8DC-A6D2-88F8-482841192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6E00E-4DDA-AF55-45F0-B72453E69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171340-4411-7B46-97AB-2B361BCD061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68C1D-05E7-0E97-43F3-CA9BFA3DF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F5387-3FD8-D937-354E-5BE1247C9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D79EA-2B13-9C44-AB19-0223F7EDD32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y2pIqbZa-iA&amp;t=447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5"/>
          <p:cNvSpPr/>
          <p:nvPr/>
        </p:nvSpPr>
        <p:spPr>
          <a:xfrm>
            <a:off x="0" y="0"/>
            <a:ext cx="558000" cy="6858000"/>
          </a:xfrm>
          <a:prstGeom prst="rect">
            <a:avLst/>
          </a:prstGeom>
          <a:solidFill>
            <a:srgbClr val="E03127"/>
          </a:solidFill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87" name="Cover title"/>
          <p:cNvSpPr txBox="1"/>
          <p:nvPr/>
        </p:nvSpPr>
        <p:spPr>
          <a:xfrm>
            <a:off x="936000" y="864000"/>
            <a:ext cx="4635500" cy="12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000" b="1" u="none" strike="noStrike">
                <a:solidFill>
                  <a:srgbClr val="242629"/>
                </a:solidFill>
                <a:effectLst/>
                <a:uFillTx/>
                <a:latin typeface="Aptos Display"/>
              </a:rPr>
              <a:t>Getting Started</a:t>
            </a:r>
          </a:p>
          <a:p>
            <a:pPr>
              <a:lnSpc>
                <a:spcPct val="110000"/>
              </a:lnSpc>
            </a:pPr>
            <a:r>
              <a:rPr lang="en-US" sz="3000" b="1" u="none" strike="noStrike">
                <a:solidFill>
                  <a:srgbClr val="242629"/>
                </a:solidFill>
                <a:effectLst/>
                <a:uFillTx/>
                <a:latin typeface="Aptos Display"/>
              </a:rPr>
              <a:t>with ESP32</a:t>
            </a:r>
          </a:p>
        </p:txBody>
      </p:sp>
      <p:sp>
        <p:nvSpPr>
          <p:cNvPr id="88" name="Text"/>
          <p:cNvSpPr txBox="1"/>
          <p:nvPr/>
        </p:nvSpPr>
        <p:spPr>
          <a:xfrm>
            <a:off x="954000" y="2412000"/>
            <a:ext cx="4212000" cy="27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600" u="none" strike="noStrike">
                <a:solidFill>
                  <a:srgbClr val="666A70"/>
                </a:solidFill>
                <a:effectLst/>
                <a:uFillTx/>
                <a:latin typeface="Aptos"/>
              </a:rPr>
              <a:t>ESP-IDF • FreeRTOS • interrupts • sleep modes</a:t>
            </a:r>
          </a:p>
        </p:txBody>
      </p:sp>
      <p:sp>
        <p:nvSpPr>
          <p:cNvPr id="89" name="Text"/>
          <p:cNvSpPr txBox="1"/>
          <p:nvPr/>
        </p:nvSpPr>
        <p:spPr>
          <a:xfrm>
            <a:off x="954000" y="2952000"/>
            <a:ext cx="2880000" cy="19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LABORATORY 1 / 2 HOURS</a:t>
            </a:r>
          </a:p>
        </p:txBody>
      </p:sp>
      <p:pic>
        <p:nvPicPr>
          <p:cNvPr id="90" name="Photograph of the lab board"/>
          <p:cNvPicPr/>
          <p:nvPr/>
        </p:nvPicPr>
        <p:blipFill>
          <a:blip r:embed="rId3"/>
          <a:stretch/>
        </p:blipFill>
        <p:spPr>
          <a:xfrm>
            <a:off x="5778500" y="381000"/>
            <a:ext cx="2603500" cy="347980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91" name="FRI logo"/>
          <p:cNvPicPr/>
          <p:nvPr/>
        </p:nvPicPr>
        <p:blipFill>
          <a:blip r:embed="rId4"/>
          <a:stretch/>
        </p:blipFill>
        <p:spPr>
          <a:xfrm>
            <a:off x="936000" y="5292000"/>
            <a:ext cx="1800000" cy="648000"/>
          </a:xfrm>
          <a:prstGeom prst="rect">
            <a:avLst/>
          </a:prstGeom>
          <a:noFill/>
          <a:ln w="3816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"/>
          <p:cNvSpPr txBox="1"/>
          <p:nvPr/>
        </p:nvSpPr>
        <p:spPr>
          <a:xfrm>
            <a:off x="432000" y="144000"/>
            <a:ext cx="8280000" cy="48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700" b="1" u="none" strike="noStrike">
                <a:solidFill>
                  <a:srgbClr val="242629"/>
                </a:solidFill>
                <a:effectLst/>
                <a:uFillTx/>
                <a:latin typeface="Aptos Display"/>
              </a:rPr>
              <a:t>The ESP32 board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50000" y="702000"/>
            <a:ext cx="792000" cy="36000"/>
          </a:xfrm>
          <a:prstGeom prst="roundRect">
            <a:avLst/>
          </a:prstGeom>
          <a:solidFill>
            <a:srgbClr val="E03127"/>
          </a:solidFill>
          <a:ln w="38160">
            <a:noFill/>
          </a:ln>
        </p:spPr>
        <p:txBody>
          <a:bodyPr lIns="90000" tIns="-9000" rIns="90000" bIns="-900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94" name="Subtitle"/>
          <p:cNvSpPr txBox="1"/>
          <p:nvPr/>
        </p:nvSpPr>
        <p:spPr>
          <a:xfrm>
            <a:off x="1332000" y="640800"/>
            <a:ext cx="6876000" cy="1872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150" u="none" strike="noStrike">
                <a:solidFill>
                  <a:srgbClr val="666A70"/>
                </a:solidFill>
                <a:effectLst/>
                <a:uFillTx/>
                <a:latin typeface="Aptos"/>
              </a:rPr>
              <a:t>A microcontroller module plus development-board support circuitry</a:t>
            </a:r>
          </a:p>
        </p:txBody>
      </p:sp>
      <p:sp>
        <p:nvSpPr>
          <p:cNvPr id="95" name="Text"/>
          <p:cNvSpPr txBox="1"/>
          <p:nvPr/>
        </p:nvSpPr>
        <p:spPr>
          <a:xfrm>
            <a:off x="504000" y="1080000"/>
            <a:ext cx="126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COMPUTE</a:t>
            </a:r>
          </a:p>
        </p:txBody>
      </p:sp>
      <p:sp>
        <p:nvSpPr>
          <p:cNvPr id="96" name="Text"/>
          <p:cNvSpPr txBox="1"/>
          <p:nvPr/>
        </p:nvSpPr>
        <p:spPr>
          <a:xfrm>
            <a:off x="504000" y="1278000"/>
            <a:ext cx="3960000" cy="41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900" b="0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Two 32-bit Xtensa LX6 CPU cores, up to 240 MHz</a:t>
            </a:r>
          </a:p>
        </p:txBody>
      </p:sp>
      <p:sp>
        <p:nvSpPr>
          <p:cNvPr id="97" name="Text"/>
          <p:cNvSpPr txBox="1"/>
          <p:nvPr/>
        </p:nvSpPr>
        <p:spPr>
          <a:xfrm>
            <a:off x="504000" y="1944000"/>
            <a:ext cx="126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CONNECTIVITY</a:t>
            </a:r>
          </a:p>
        </p:txBody>
      </p:sp>
      <p:sp>
        <p:nvSpPr>
          <p:cNvPr id="98" name="Text"/>
          <p:cNvSpPr txBox="1"/>
          <p:nvPr/>
        </p:nvSpPr>
        <p:spPr>
          <a:xfrm>
            <a:off x="504000" y="2142000"/>
            <a:ext cx="3960000" cy="41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900" b="0" u="none" strike="noStrike" dirty="0">
                <a:solidFill>
                  <a:srgbClr val="292B2E"/>
                </a:solidFill>
                <a:effectLst/>
                <a:uFillTx/>
                <a:latin typeface="Aptos"/>
              </a:rPr>
              <a:t>2.4 GHz Wi-Fi and Bluetooth are integrated in the chip</a:t>
            </a:r>
          </a:p>
        </p:txBody>
      </p:sp>
      <p:sp>
        <p:nvSpPr>
          <p:cNvPr id="99" name="Text"/>
          <p:cNvSpPr txBox="1"/>
          <p:nvPr/>
        </p:nvSpPr>
        <p:spPr>
          <a:xfrm>
            <a:off x="504000" y="2808000"/>
            <a:ext cx="126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u="none" strike="noStrike" dirty="0">
                <a:solidFill>
                  <a:srgbClr val="E03127"/>
                </a:solidFill>
                <a:effectLst/>
                <a:uFillTx/>
                <a:latin typeface="Aptos"/>
              </a:rPr>
              <a:t>PERIPHERALS</a:t>
            </a:r>
          </a:p>
        </p:txBody>
      </p:sp>
      <p:sp>
        <p:nvSpPr>
          <p:cNvPr id="100" name="Text"/>
          <p:cNvSpPr txBox="1"/>
          <p:nvPr/>
        </p:nvSpPr>
        <p:spPr>
          <a:xfrm>
            <a:off x="504000" y="3006000"/>
            <a:ext cx="4032000" cy="55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900" b="0" u="none" strike="noStrike" dirty="0">
                <a:solidFill>
                  <a:srgbClr val="292B2E"/>
                </a:solidFill>
                <a:effectLst/>
                <a:uFillTx/>
                <a:latin typeface="Aptos"/>
              </a:rPr>
              <a:t>GPIO, ADC, DAC, PWM, UART, SPI, timers and interrupts</a:t>
            </a:r>
          </a:p>
        </p:txBody>
      </p:sp>
      <p:sp>
        <p:nvSpPr>
          <p:cNvPr id="101" name="Text"/>
          <p:cNvSpPr txBox="1"/>
          <p:nvPr/>
        </p:nvSpPr>
        <p:spPr>
          <a:xfrm>
            <a:off x="504000" y="3816000"/>
            <a:ext cx="180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BOARD SUPPORT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504000" y="4086000"/>
            <a:ext cx="4032000" cy="55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900" b="0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USB-to-UART bridge, 3.3 V regulator, EN reset and BOOT button</a:t>
            </a:r>
          </a:p>
        </p:txBody>
      </p:sp>
      <p:pic>
        <p:nvPicPr>
          <p:cNvPr id="103" name="ESP32 board"/>
          <p:cNvPicPr/>
          <p:nvPr/>
        </p:nvPicPr>
        <p:blipFill>
          <a:blip r:embed="rId3"/>
          <a:stretch/>
        </p:blipFill>
        <p:spPr>
          <a:xfrm>
            <a:off x="5652000" y="1044000"/>
            <a:ext cx="2160000" cy="2880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04" name="Rounded Rectangle 103"/>
          <p:cNvSpPr/>
          <p:nvPr/>
        </p:nvSpPr>
        <p:spPr>
          <a:xfrm>
            <a:off x="5220000" y="4320000"/>
            <a:ext cx="3096000" cy="720000"/>
          </a:xfrm>
          <a:prstGeom prst="roundRect">
            <a:avLst/>
          </a:prstGeom>
          <a:solidFill>
            <a:srgbClr val="FFF0EE"/>
          </a:solidFill>
          <a:ln w="14400">
            <a:noFill/>
            <a:round/>
          </a:ln>
        </p:spPr>
        <p:txBody>
          <a:bodyPr lIns="78120" tIns="33120" rIns="78120" bIns="3312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105" name="Text"/>
          <p:cNvSpPr txBox="1"/>
          <p:nvPr/>
        </p:nvSpPr>
        <p:spPr>
          <a:xfrm>
            <a:off x="5328000" y="4446000"/>
            <a:ext cx="2880000" cy="45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6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The visible LED is a power indicator, not a user LED.</a:t>
            </a:r>
          </a:p>
        </p:txBody>
      </p:sp>
      <p:pic>
        <p:nvPicPr>
          <p:cNvPr id="106" name="FRI logo 2"/>
          <p:cNvPicPr/>
          <p:nvPr/>
        </p:nvPicPr>
        <p:blipFill>
          <a:blip r:embed="rId4"/>
          <a:stretch/>
        </p:blipFill>
        <p:spPr>
          <a:xfrm>
            <a:off x="234000" y="6066000"/>
            <a:ext cx="1278000" cy="4608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07" name="Slide number"/>
          <p:cNvSpPr txBox="1"/>
          <p:nvPr/>
        </p:nvSpPr>
        <p:spPr>
          <a:xfrm>
            <a:off x="7560000" y="6210000"/>
            <a:ext cx="1116000" cy="16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r"/>
            <a:r>
              <a:rPr lang="en-US" sz="850" u="none" strike="noStrike">
                <a:solidFill>
                  <a:srgbClr val="666A70"/>
                </a:solidFill>
                <a:effectLst/>
                <a:uFillTx/>
                <a:latin typeface="Aptos"/>
              </a:rPr>
              <a:t>LAB 1 /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"/>
          <p:cNvSpPr txBox="1"/>
          <p:nvPr/>
        </p:nvSpPr>
        <p:spPr>
          <a:xfrm>
            <a:off x="432000" y="144000"/>
            <a:ext cx="8280000" cy="48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700" b="1" u="none" strike="noStrike">
                <a:solidFill>
                  <a:srgbClr val="242629"/>
                </a:solidFill>
                <a:effectLst/>
                <a:uFillTx/>
                <a:latin typeface="Aptos Display"/>
              </a:rPr>
              <a:t>30-pin board pinout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50000" y="702000"/>
            <a:ext cx="792000" cy="36000"/>
          </a:xfrm>
          <a:prstGeom prst="roundRect">
            <a:avLst/>
          </a:prstGeom>
          <a:solidFill>
            <a:srgbClr val="E03127"/>
          </a:solidFill>
          <a:ln w="38160">
            <a:noFill/>
          </a:ln>
        </p:spPr>
        <p:txBody>
          <a:bodyPr lIns="90000" tIns="-9000" rIns="90000" bIns="-900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141" name="Subtitle"/>
          <p:cNvSpPr txBox="1"/>
          <p:nvPr/>
        </p:nvSpPr>
        <p:spPr>
          <a:xfrm>
            <a:off x="1332000" y="640800"/>
            <a:ext cx="6876000" cy="1872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150" u="none" strike="noStrike">
                <a:solidFill>
                  <a:srgbClr val="666A70"/>
                </a:solidFill>
                <a:effectLst/>
                <a:uFillTx/>
                <a:latin typeface="Aptos"/>
              </a:rPr>
              <a:t>Read GPIO numbers, not only the D-label printed on the board</a:t>
            </a:r>
          </a:p>
        </p:txBody>
      </p:sp>
      <p:pic>
        <p:nvPicPr>
          <p:cNvPr id="142" name="ESP32 30-pin pinout"/>
          <p:cNvPicPr/>
          <p:nvPr/>
        </p:nvPicPr>
        <p:blipFill>
          <a:blip r:embed="rId3"/>
          <a:stretch/>
        </p:blipFill>
        <p:spPr>
          <a:xfrm>
            <a:off x="684000" y="990000"/>
            <a:ext cx="7776000" cy="40284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43" name="Rounded Rectangle 142"/>
          <p:cNvSpPr/>
          <p:nvPr/>
        </p:nvSpPr>
        <p:spPr>
          <a:xfrm>
            <a:off x="684000" y="5130000"/>
            <a:ext cx="7776000" cy="450000"/>
          </a:xfrm>
          <a:prstGeom prst="roundRect">
            <a:avLst/>
          </a:prstGeom>
          <a:solidFill>
            <a:srgbClr val="FFF0EE"/>
          </a:solidFill>
          <a:ln w="14400">
            <a:noFill/>
            <a:round/>
          </a:ln>
        </p:spPr>
        <p:txBody>
          <a:bodyPr lIns="78120" tIns="33120" rIns="78120" bIns="3312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144" name="Text"/>
          <p:cNvSpPr txBox="1"/>
          <p:nvPr/>
        </p:nvSpPr>
        <p:spPr>
          <a:xfrm>
            <a:off x="792000" y="5248800"/>
            <a:ext cx="7560000" cy="23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6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3.3 V GPIO • GPIO34–39 input only • GPIO1/3 UART0 • GPIO0/2/5/12/15 affect boot</a:t>
            </a:r>
          </a:p>
        </p:txBody>
      </p:sp>
      <p:pic>
        <p:nvPicPr>
          <p:cNvPr id="145" name="FRI logo 5"/>
          <p:cNvPicPr/>
          <p:nvPr/>
        </p:nvPicPr>
        <p:blipFill>
          <a:blip r:embed="rId4"/>
          <a:stretch/>
        </p:blipFill>
        <p:spPr>
          <a:xfrm>
            <a:off x="234000" y="6066000"/>
            <a:ext cx="1278000" cy="4608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46" name="Slide number"/>
          <p:cNvSpPr txBox="1"/>
          <p:nvPr/>
        </p:nvSpPr>
        <p:spPr>
          <a:xfrm>
            <a:off x="7560000" y="6210000"/>
            <a:ext cx="1116000" cy="16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r"/>
            <a:r>
              <a:rPr lang="en-US" sz="850" u="none" strike="noStrike">
                <a:solidFill>
                  <a:srgbClr val="666A70"/>
                </a:solidFill>
                <a:effectLst/>
                <a:uFillTx/>
                <a:latin typeface="Aptos"/>
              </a:rPr>
              <a:t>LAB 1 /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itle"/>
          <p:cNvSpPr txBox="1"/>
          <p:nvPr/>
        </p:nvSpPr>
        <p:spPr>
          <a:xfrm>
            <a:off x="432000" y="144000"/>
            <a:ext cx="8280000" cy="48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500" b="1" u="none" strike="noStrike">
                <a:solidFill>
                  <a:srgbClr val="242629"/>
                </a:solidFill>
                <a:effectLst/>
                <a:uFillTx/>
                <a:latin typeface="Aptos Display"/>
              </a:rPr>
              <a:t>VS Code + ESP-IDF workflow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50000" y="702000"/>
            <a:ext cx="792000" cy="36000"/>
          </a:xfrm>
          <a:prstGeom prst="roundRect">
            <a:avLst/>
          </a:prstGeom>
          <a:solidFill>
            <a:srgbClr val="E03127"/>
          </a:solidFill>
          <a:ln w="38160">
            <a:noFill/>
          </a:ln>
        </p:spPr>
        <p:txBody>
          <a:bodyPr lIns="90000" tIns="-9000" rIns="90000" bIns="-900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149" name="Subtitle"/>
          <p:cNvSpPr txBox="1"/>
          <p:nvPr/>
        </p:nvSpPr>
        <p:spPr>
          <a:xfrm>
            <a:off x="1332000" y="640800"/>
            <a:ext cx="6876000" cy="1872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150" u="none" strike="noStrike">
                <a:solidFill>
                  <a:srgbClr val="666A70"/>
                </a:solidFill>
                <a:effectLst/>
                <a:uFillTx/>
                <a:latin typeface="Aptos"/>
              </a:rPr>
              <a:t>Use the ESP-IDF extension to build, flash and monitor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60000" y="1512000"/>
            <a:ext cx="1512000" cy="1044000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9DCE0"/>
            </a:solidFill>
            <a:round/>
          </a:ln>
        </p:spPr>
        <p:txBody>
          <a:bodyPr lIns="78120" tIns="33120" rIns="78120" bIns="3312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151" name="Text"/>
          <p:cNvSpPr txBox="1"/>
          <p:nvPr/>
        </p:nvSpPr>
        <p:spPr>
          <a:xfrm>
            <a:off x="504000" y="1692000"/>
            <a:ext cx="1224000" cy="19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1 OPEN</a:t>
            </a:r>
          </a:p>
        </p:txBody>
      </p:sp>
      <p:sp>
        <p:nvSpPr>
          <p:cNvPr id="152" name="Text"/>
          <p:cNvSpPr txBox="1"/>
          <p:nvPr/>
        </p:nvSpPr>
        <p:spPr>
          <a:xfrm>
            <a:off x="504000" y="2034000"/>
            <a:ext cx="1224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300" u="none" strike="noStrike">
                <a:solidFill>
                  <a:srgbClr val="242629"/>
                </a:solidFill>
                <a:effectLst/>
                <a:uFillTx/>
                <a:latin typeface="Aptos"/>
              </a:rPr>
              <a:t>VS Code +
ESP-IDF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142000" y="1512000"/>
            <a:ext cx="1512000" cy="1044000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9DCE0"/>
            </a:solidFill>
            <a:round/>
          </a:ln>
        </p:spPr>
        <p:txBody>
          <a:bodyPr lIns="78120" tIns="33120" rIns="78120" bIns="3312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154" name="Text"/>
          <p:cNvSpPr txBox="1"/>
          <p:nvPr/>
        </p:nvSpPr>
        <p:spPr>
          <a:xfrm>
            <a:off x="2286000" y="1692000"/>
            <a:ext cx="1224000" cy="19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2 EDIT</a:t>
            </a:r>
          </a:p>
        </p:txBody>
      </p:sp>
      <p:sp>
        <p:nvSpPr>
          <p:cNvPr id="155" name="Text"/>
          <p:cNvSpPr txBox="1"/>
          <p:nvPr/>
        </p:nvSpPr>
        <p:spPr>
          <a:xfrm>
            <a:off x="2286000" y="2034000"/>
            <a:ext cx="1224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050" u="none" strike="noStrike">
                <a:solidFill>
                  <a:srgbClr val="242629"/>
                </a:solidFill>
                <a:effectLst/>
                <a:uFillTx/>
                <a:latin typeface="Aptos Mono"/>
              </a:rPr>
              <a:t>main/main.c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924000" y="1512000"/>
            <a:ext cx="1512000" cy="1044000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9DCE0"/>
            </a:solidFill>
            <a:round/>
          </a:ln>
        </p:spPr>
        <p:txBody>
          <a:bodyPr lIns="75600" tIns="30600" rIns="75600" bIns="3060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157" name="Text"/>
          <p:cNvSpPr txBox="1"/>
          <p:nvPr/>
        </p:nvSpPr>
        <p:spPr>
          <a:xfrm>
            <a:off x="4068000" y="1692000"/>
            <a:ext cx="1224000" cy="19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3 BUILD</a:t>
            </a:r>
          </a:p>
        </p:txBody>
      </p:sp>
      <p:sp>
        <p:nvSpPr>
          <p:cNvPr id="158" name="Text"/>
          <p:cNvSpPr txBox="1"/>
          <p:nvPr/>
        </p:nvSpPr>
        <p:spPr>
          <a:xfrm>
            <a:off x="4068000" y="2034000"/>
            <a:ext cx="1224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250" u="none" strike="noStrike">
                <a:solidFill>
                  <a:srgbClr val="242629"/>
                </a:solidFill>
                <a:effectLst/>
                <a:uFillTx/>
                <a:latin typeface="Aptos"/>
              </a:rPr>
              <a:t>CMake + Ninja
+ link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706000" y="1512000"/>
            <a:ext cx="1512000" cy="1044000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9DCE0"/>
            </a:solidFill>
            <a:round/>
          </a:ln>
        </p:spPr>
        <p:txBody>
          <a:bodyPr lIns="78120" tIns="33120" rIns="78120" bIns="3312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160" name="Text"/>
          <p:cNvSpPr txBox="1"/>
          <p:nvPr/>
        </p:nvSpPr>
        <p:spPr>
          <a:xfrm>
            <a:off x="5850000" y="1692000"/>
            <a:ext cx="1224000" cy="19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4 FLASH</a:t>
            </a:r>
          </a:p>
        </p:txBody>
      </p:sp>
      <p:sp>
        <p:nvSpPr>
          <p:cNvPr id="161" name="Text"/>
          <p:cNvSpPr txBox="1"/>
          <p:nvPr/>
        </p:nvSpPr>
        <p:spPr>
          <a:xfrm>
            <a:off x="5850000" y="2034000"/>
            <a:ext cx="1224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300" u="none" strike="noStrike">
                <a:solidFill>
                  <a:srgbClr val="242629"/>
                </a:solidFill>
                <a:effectLst/>
                <a:uFillTx/>
                <a:latin typeface="Aptos"/>
              </a:rPr>
              <a:t>Select port
+ Flash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7488000" y="1512000"/>
            <a:ext cx="1296000" cy="1044000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9DCE0"/>
            </a:solidFill>
            <a:round/>
          </a:ln>
        </p:spPr>
        <p:txBody>
          <a:bodyPr lIns="78120" tIns="33120" rIns="78120" bIns="3312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163" name="Text"/>
          <p:cNvSpPr txBox="1"/>
          <p:nvPr/>
        </p:nvSpPr>
        <p:spPr>
          <a:xfrm>
            <a:off x="7596000" y="1692000"/>
            <a:ext cx="1080000" cy="30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15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5 MONITOR</a:t>
            </a:r>
          </a:p>
        </p:txBody>
      </p:sp>
      <p:sp>
        <p:nvSpPr>
          <p:cNvPr id="164" name="Text"/>
          <p:cNvSpPr txBox="1"/>
          <p:nvPr/>
        </p:nvSpPr>
        <p:spPr>
          <a:xfrm>
            <a:off x="7596000" y="2106000"/>
            <a:ext cx="1080000" cy="23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250" u="none" strike="noStrike">
                <a:solidFill>
                  <a:srgbClr val="242629"/>
                </a:solidFill>
                <a:effectLst/>
                <a:uFillTx/>
                <a:latin typeface="Aptos"/>
              </a:rPr>
              <a:t>ESP-IDF
Monitor</a:t>
            </a:r>
          </a:p>
        </p:txBody>
      </p:sp>
      <p:sp>
        <p:nvSpPr>
          <p:cNvPr id="165" name="Text"/>
          <p:cNvSpPr txBox="1"/>
          <p:nvPr/>
        </p:nvSpPr>
        <p:spPr>
          <a:xfrm>
            <a:off x="864000" y="3312000"/>
            <a:ext cx="2520000" cy="27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TERMINAL EQUIVALENT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64000" y="3600000"/>
            <a:ext cx="7380000" cy="1188000"/>
          </a:xfrm>
          <a:prstGeom prst="roundRect">
            <a:avLst/>
          </a:prstGeom>
          <a:solidFill>
            <a:srgbClr val="FFF0EE"/>
          </a:solidFill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167" name="Text"/>
          <p:cNvSpPr txBox="1"/>
          <p:nvPr/>
        </p:nvSpPr>
        <p:spPr>
          <a:xfrm>
            <a:off x="1080000" y="3798000"/>
            <a:ext cx="6948000" cy="86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500" b="0" u="none" strike="noStrike">
                <a:solidFill>
                  <a:srgbClr val="242629"/>
                </a:solidFill>
                <a:effectLst/>
                <a:uFillTx/>
                <a:latin typeface="Aptos Mono"/>
              </a:rPr>
              <a:t>idf.py set-target esp32</a:t>
            </a:r>
          </a:p>
          <a:p>
            <a:pPr>
              <a:lnSpc>
                <a:spcPct val="125000"/>
              </a:lnSpc>
            </a:pPr>
            <a:r>
              <a:rPr lang="en-US" sz="1500" b="0" u="none" strike="noStrike">
                <a:solidFill>
                  <a:srgbClr val="242629"/>
                </a:solidFill>
                <a:effectLst/>
                <a:uFillTx/>
                <a:latin typeface="Aptos Mono"/>
              </a:rPr>
              <a:t>idf.py build</a:t>
            </a:r>
          </a:p>
          <a:p>
            <a:pPr>
              <a:lnSpc>
                <a:spcPct val="125000"/>
              </a:lnSpc>
            </a:pPr>
            <a:r>
              <a:rPr lang="en-US" sz="1500" b="0" u="none" strike="noStrike">
                <a:solidFill>
                  <a:srgbClr val="242629"/>
                </a:solidFill>
                <a:effectLst/>
                <a:uFillTx/>
                <a:latin typeface="Aptos Mono"/>
              </a:rPr>
              <a:t>idf.py -p PORT flash monitor</a:t>
            </a:r>
          </a:p>
        </p:txBody>
      </p:sp>
      <p:pic>
        <p:nvPicPr>
          <p:cNvPr id="168" name="FRI logo 6"/>
          <p:cNvPicPr/>
          <p:nvPr/>
        </p:nvPicPr>
        <p:blipFill>
          <a:blip r:embed="rId3"/>
          <a:stretch/>
        </p:blipFill>
        <p:spPr>
          <a:xfrm>
            <a:off x="234000" y="6066000"/>
            <a:ext cx="1278000" cy="4608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69" name="Slide number"/>
          <p:cNvSpPr txBox="1"/>
          <p:nvPr/>
        </p:nvSpPr>
        <p:spPr>
          <a:xfrm>
            <a:off x="7560000" y="6210000"/>
            <a:ext cx="1116000" cy="16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r"/>
            <a:r>
              <a:rPr lang="en-US" sz="850" u="none" strike="noStrike">
                <a:solidFill>
                  <a:srgbClr val="666A70"/>
                </a:solidFill>
                <a:effectLst/>
                <a:uFillTx/>
                <a:latin typeface="Aptos"/>
              </a:rPr>
              <a:t>LAB 1 / 04</a:t>
            </a:r>
          </a:p>
        </p:txBody>
      </p:sp>
      <p:sp>
        <p:nvSpPr>
          <p:cNvPr id="2" name="Workflow arrow 1">
            <a:extLst>
              <a:ext uri="{FF2B5EF4-FFF2-40B4-BE49-F238E27FC236}">
                <a16:creationId xmlns:a16="http://schemas.microsoft.com/office/drawing/2014/main" id="{7F752B6D-4DAD-F941-BC51-6302CF32FAAF}"/>
              </a:ext>
            </a:extLst>
          </p:cNvPr>
          <p:cNvSpPr/>
          <p:nvPr/>
        </p:nvSpPr>
        <p:spPr>
          <a:xfrm>
            <a:off x="1917700" y="1841500"/>
            <a:ext cx="152400" cy="355600"/>
          </a:xfrm>
          <a:prstGeom prst="chevron">
            <a:avLst/>
          </a:prstGeom>
          <a:solidFill>
            <a:srgbClr val="E03127"/>
          </a:solidFill>
          <a:ln w="6350" cap="flat" cmpd="sng" algn="ctr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Workflow arrow 2">
            <a:extLst>
              <a:ext uri="{FF2B5EF4-FFF2-40B4-BE49-F238E27FC236}">
                <a16:creationId xmlns:a16="http://schemas.microsoft.com/office/drawing/2014/main" id="{00AB3E24-1D19-0149-9B6E-73B2DD12E0C5}"/>
              </a:ext>
            </a:extLst>
          </p:cNvPr>
          <p:cNvSpPr/>
          <p:nvPr/>
        </p:nvSpPr>
        <p:spPr>
          <a:xfrm>
            <a:off x="3695700" y="1841500"/>
            <a:ext cx="152400" cy="355600"/>
          </a:xfrm>
          <a:prstGeom prst="chevron">
            <a:avLst/>
          </a:prstGeom>
          <a:solidFill>
            <a:srgbClr val="E03127"/>
          </a:solidFill>
          <a:ln w="6350" cap="flat" cmpd="sng" algn="ctr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Workflow arrow 3">
            <a:extLst>
              <a:ext uri="{FF2B5EF4-FFF2-40B4-BE49-F238E27FC236}">
                <a16:creationId xmlns:a16="http://schemas.microsoft.com/office/drawing/2014/main" id="{8AE090EA-BC85-AC40-9718-011D0B5C79D8}"/>
              </a:ext>
            </a:extLst>
          </p:cNvPr>
          <p:cNvSpPr/>
          <p:nvPr/>
        </p:nvSpPr>
        <p:spPr>
          <a:xfrm>
            <a:off x="5473700" y="1841500"/>
            <a:ext cx="152400" cy="355600"/>
          </a:xfrm>
          <a:prstGeom prst="chevron">
            <a:avLst/>
          </a:prstGeom>
          <a:solidFill>
            <a:srgbClr val="E03127"/>
          </a:solidFill>
          <a:ln w="6350" cap="flat" cmpd="sng" algn="ctr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Workflow arrow 4">
            <a:extLst>
              <a:ext uri="{FF2B5EF4-FFF2-40B4-BE49-F238E27FC236}">
                <a16:creationId xmlns:a16="http://schemas.microsoft.com/office/drawing/2014/main" id="{92BFF622-BE41-CF47-B048-E24F7CB893ED}"/>
              </a:ext>
            </a:extLst>
          </p:cNvPr>
          <p:cNvSpPr/>
          <p:nvPr/>
        </p:nvSpPr>
        <p:spPr>
          <a:xfrm>
            <a:off x="7251700" y="1841500"/>
            <a:ext cx="152400" cy="355600"/>
          </a:xfrm>
          <a:prstGeom prst="chevron">
            <a:avLst/>
          </a:prstGeom>
          <a:solidFill>
            <a:srgbClr val="E03127"/>
          </a:solidFill>
          <a:ln w="6350" cap="flat" cmpd="sng" algn="ctr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itle"/>
          <p:cNvSpPr txBox="1"/>
          <p:nvPr/>
        </p:nvSpPr>
        <p:spPr>
          <a:xfrm>
            <a:off x="432000" y="144000"/>
            <a:ext cx="8280000" cy="48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700" b="1" u="none" strike="noStrike">
                <a:solidFill>
                  <a:srgbClr val="242629"/>
                </a:solidFill>
                <a:effectLst/>
                <a:uFillTx/>
                <a:latin typeface="Aptos Display"/>
              </a:rPr>
              <a:t>Exercise 1: System information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450000" y="702000"/>
            <a:ext cx="792000" cy="36000"/>
          </a:xfrm>
          <a:prstGeom prst="roundRect">
            <a:avLst/>
          </a:prstGeom>
          <a:solidFill>
            <a:srgbClr val="E03127"/>
          </a:solidFill>
          <a:ln w="38160">
            <a:noFill/>
          </a:ln>
        </p:spPr>
        <p:txBody>
          <a:bodyPr lIns="90000" tIns="-9000" rIns="90000" bIns="-900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187" name="Subtitle"/>
          <p:cNvSpPr txBox="1"/>
          <p:nvPr/>
        </p:nvSpPr>
        <p:spPr>
          <a:xfrm>
            <a:off x="1332000" y="640800"/>
            <a:ext cx="6876000" cy="1872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150" u="none" strike="noStrike">
                <a:solidFill>
                  <a:srgbClr val="666A70"/>
                </a:solidFill>
                <a:effectLst/>
                <a:uFillTx/>
                <a:latin typeface="Aptos"/>
              </a:rPr>
              <a:t>Project: code/01_system_info</a:t>
            </a:r>
          </a:p>
        </p:txBody>
      </p:sp>
      <p:sp>
        <p:nvSpPr>
          <p:cNvPr id="188" name="Text"/>
          <p:cNvSpPr txBox="1"/>
          <p:nvPr/>
        </p:nvSpPr>
        <p:spPr>
          <a:xfrm>
            <a:off x="576000" y="1116000"/>
            <a:ext cx="936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RUN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576000" y="1404000"/>
            <a:ext cx="3816000" cy="1548000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9DCE0"/>
            </a:solidFill>
          </a:ln>
        </p:spPr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190" name="Text"/>
          <p:cNvSpPr txBox="1"/>
          <p:nvPr/>
        </p:nvSpPr>
        <p:spPr>
          <a:xfrm>
            <a:off x="756000" y="1602000"/>
            <a:ext cx="3456000" cy="100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b="0" u="none" strike="noStrike">
                <a:solidFill>
                  <a:srgbClr val="242629"/>
                </a:solidFill>
                <a:effectLst/>
                <a:uFillTx/>
                <a:latin typeface="Aptos Mono"/>
              </a:rPr>
              <a:t>idf.py set-target esp32</a:t>
            </a:r>
          </a:p>
          <a:p>
            <a:pPr>
              <a:lnSpc>
                <a:spcPct val="125000"/>
              </a:lnSpc>
            </a:pPr>
            <a:r>
              <a:rPr lang="en-US" sz="1400" b="0" u="none" strike="noStrike">
                <a:solidFill>
                  <a:srgbClr val="242629"/>
                </a:solidFill>
                <a:effectLst/>
                <a:uFillTx/>
                <a:latin typeface="Aptos Mono"/>
              </a:rPr>
              <a:t>idf.py build</a:t>
            </a:r>
          </a:p>
          <a:p>
            <a:pPr>
              <a:lnSpc>
                <a:spcPct val="125000"/>
              </a:lnSpc>
            </a:pPr>
            <a:r>
              <a:rPr lang="en-US" sz="1400" b="0" u="none" strike="noStrike">
                <a:solidFill>
                  <a:srgbClr val="242629"/>
                </a:solidFill>
                <a:effectLst/>
                <a:uFillTx/>
                <a:latin typeface="Aptos Mono"/>
              </a:rPr>
              <a:t>idf.py -p PORT flash monitor</a:t>
            </a:r>
          </a:p>
        </p:txBody>
      </p:sp>
      <p:sp>
        <p:nvSpPr>
          <p:cNvPr id="191" name="Text"/>
          <p:cNvSpPr txBox="1"/>
          <p:nvPr/>
        </p:nvSpPr>
        <p:spPr>
          <a:xfrm>
            <a:off x="5004000" y="1116000"/>
            <a:ext cx="108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FIND</a:t>
            </a:r>
          </a:p>
        </p:txBody>
      </p:sp>
      <p:sp>
        <p:nvSpPr>
          <p:cNvPr id="192" name="Text"/>
          <p:cNvSpPr txBox="1"/>
          <p:nvPr/>
        </p:nvSpPr>
        <p:spPr>
          <a:xfrm>
            <a:off x="5004000" y="1314000"/>
            <a:ext cx="3240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900" b="0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IDF version, chip revision, core count, flash size and free heap</a:t>
            </a:r>
          </a:p>
        </p:txBody>
      </p:sp>
      <p:sp>
        <p:nvSpPr>
          <p:cNvPr id="193" name="Text"/>
          <p:cNvSpPr txBox="1"/>
          <p:nvPr/>
        </p:nvSpPr>
        <p:spPr>
          <a:xfrm>
            <a:off x="5004000" y="2160000"/>
            <a:ext cx="108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OBSERVE</a:t>
            </a:r>
          </a:p>
        </p:txBody>
      </p:sp>
      <p:sp>
        <p:nvSpPr>
          <p:cNvPr id="194" name="Text"/>
          <p:cNvSpPr txBox="1"/>
          <p:nvPr/>
        </p:nvSpPr>
        <p:spPr>
          <a:xfrm>
            <a:off x="5004000" y="2358000"/>
            <a:ext cx="3240000" cy="43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900" b="0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A heartbeat every two seconds</a:t>
            </a:r>
          </a:p>
        </p:txBody>
      </p:sp>
      <p:sp>
        <p:nvSpPr>
          <p:cNvPr id="195" name="Text"/>
          <p:cNvSpPr txBox="1"/>
          <p:nvPr/>
        </p:nvSpPr>
        <p:spPr>
          <a:xfrm>
            <a:off x="5004000" y="3060000"/>
            <a:ext cx="108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EXPLAIN</a:t>
            </a:r>
          </a:p>
        </p:txBody>
      </p:sp>
      <p:sp>
        <p:nvSpPr>
          <p:cNvPr id="196" name="Text"/>
          <p:cNvSpPr txBox="1"/>
          <p:nvPr/>
        </p:nvSpPr>
        <p:spPr>
          <a:xfrm>
            <a:off x="5004000" y="3258000"/>
            <a:ext cx="3240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900" b="0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Flash stores the program; RAM holds runtime state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576000" y="4464000"/>
            <a:ext cx="7668000" cy="558000"/>
          </a:xfrm>
          <a:prstGeom prst="roundRect">
            <a:avLst/>
          </a:prstGeom>
          <a:solidFill>
            <a:srgbClr val="FFF0EE"/>
          </a:solidFill>
          <a:ln w="14400">
            <a:noFill/>
            <a:round/>
          </a:ln>
        </p:spPr>
        <p:txBody>
          <a:bodyPr lIns="78120" tIns="33120" rIns="78120" bIns="3312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198" name="Text"/>
          <p:cNvSpPr txBox="1"/>
          <p:nvPr/>
        </p:nvSpPr>
        <p:spPr>
          <a:xfrm>
            <a:off x="756000" y="4615200"/>
            <a:ext cx="7308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6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CHECKPOINT 1 Show a successful flash and recognizable chip information.</a:t>
            </a:r>
          </a:p>
        </p:txBody>
      </p:sp>
      <p:pic>
        <p:nvPicPr>
          <p:cNvPr id="199" name="FRI logo 8"/>
          <p:cNvPicPr/>
          <p:nvPr/>
        </p:nvPicPr>
        <p:blipFill>
          <a:blip r:embed="rId3"/>
          <a:stretch/>
        </p:blipFill>
        <p:spPr>
          <a:xfrm>
            <a:off x="234000" y="6066000"/>
            <a:ext cx="1278000" cy="4608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00" name="Slide number"/>
          <p:cNvSpPr txBox="1"/>
          <p:nvPr/>
        </p:nvSpPr>
        <p:spPr>
          <a:xfrm>
            <a:off x="7560000" y="6210000"/>
            <a:ext cx="1116000" cy="16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r"/>
            <a:r>
              <a:rPr lang="en-US" sz="850" u="none" strike="noStrike">
                <a:solidFill>
                  <a:srgbClr val="666A70"/>
                </a:solidFill>
                <a:effectLst/>
                <a:uFillTx/>
                <a:latin typeface="Aptos"/>
              </a:rPr>
              <a:t>LAB 1 / 05</a:t>
            </a:r>
          </a:p>
        </p:txBody>
      </p:sp>
      <p:sp>
        <p:nvSpPr>
          <p:cNvPr id="2" name="Step marker 1">
            <a:extLst>
              <a:ext uri="{FF2B5EF4-FFF2-40B4-BE49-F238E27FC236}">
                <a16:creationId xmlns:a16="http://schemas.microsoft.com/office/drawing/2014/main" id="{CF7E833B-9CC5-3F48-88FE-00B59D3426FF}"/>
              </a:ext>
            </a:extLst>
          </p:cNvPr>
          <p:cNvSpPr/>
          <p:nvPr/>
        </p:nvSpPr>
        <p:spPr>
          <a:xfrm>
            <a:off x="4699000" y="1066800"/>
            <a:ext cx="228600" cy="228600"/>
          </a:xfrm>
          <a:prstGeom prst="ellipse">
            <a:avLst/>
          </a:prstGeom>
          <a:solidFill>
            <a:srgbClr val="E03127"/>
          </a:solidFill>
          <a:ln w="6350" cap="flat" cmpd="sng" algn="ctr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" name="Step marker 2">
            <a:extLst>
              <a:ext uri="{FF2B5EF4-FFF2-40B4-BE49-F238E27FC236}">
                <a16:creationId xmlns:a16="http://schemas.microsoft.com/office/drawing/2014/main" id="{4579C692-ED1A-AA4D-AA17-58B119AA7160}"/>
              </a:ext>
            </a:extLst>
          </p:cNvPr>
          <p:cNvSpPr/>
          <p:nvPr/>
        </p:nvSpPr>
        <p:spPr>
          <a:xfrm>
            <a:off x="4699000" y="2108200"/>
            <a:ext cx="228600" cy="228600"/>
          </a:xfrm>
          <a:prstGeom prst="ellipse">
            <a:avLst/>
          </a:prstGeom>
          <a:solidFill>
            <a:srgbClr val="E03127"/>
          </a:solidFill>
          <a:ln w="6350" cap="flat" cmpd="sng" algn="ctr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" name="Step marker 3">
            <a:extLst>
              <a:ext uri="{FF2B5EF4-FFF2-40B4-BE49-F238E27FC236}">
                <a16:creationId xmlns:a16="http://schemas.microsoft.com/office/drawing/2014/main" id="{7AF53A86-A850-004C-A3A7-8BDD1D3A7D29}"/>
              </a:ext>
            </a:extLst>
          </p:cNvPr>
          <p:cNvSpPr/>
          <p:nvPr/>
        </p:nvSpPr>
        <p:spPr>
          <a:xfrm>
            <a:off x="4699000" y="3009900"/>
            <a:ext cx="228600" cy="228600"/>
          </a:xfrm>
          <a:prstGeom prst="ellipse">
            <a:avLst/>
          </a:prstGeom>
          <a:solidFill>
            <a:srgbClr val="E03127"/>
          </a:solidFill>
          <a:ln w="6350" cap="flat" cmpd="sng" algn="ctr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"/>
          <p:cNvSpPr txBox="1"/>
          <p:nvPr/>
        </p:nvSpPr>
        <p:spPr>
          <a:xfrm>
            <a:off x="432000" y="144000"/>
            <a:ext cx="8280000" cy="48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700" b="1" u="none" strike="noStrike">
                <a:solidFill>
                  <a:srgbClr val="242629"/>
                </a:solidFill>
                <a:effectLst/>
                <a:uFillTx/>
                <a:latin typeface="Aptos Display"/>
              </a:rPr>
              <a:t>Exercise 2: Tasks on both cores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50000" y="702000"/>
            <a:ext cx="792000" cy="36000"/>
          </a:xfrm>
          <a:prstGeom prst="roundRect">
            <a:avLst/>
          </a:prstGeom>
          <a:solidFill>
            <a:srgbClr val="E03127"/>
          </a:solidFill>
          <a:ln w="38160">
            <a:noFill/>
          </a:ln>
        </p:spPr>
        <p:txBody>
          <a:bodyPr lIns="90000" tIns="-9000" rIns="90000" bIns="-900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203" name="Subtitle"/>
          <p:cNvSpPr txBox="1"/>
          <p:nvPr/>
        </p:nvSpPr>
        <p:spPr>
          <a:xfrm>
            <a:off x="1332000" y="640800"/>
            <a:ext cx="6876000" cy="1872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150" u="none" strike="noStrike">
                <a:solidFill>
                  <a:srgbClr val="666A70"/>
                </a:solidFill>
                <a:effectLst/>
                <a:uFillTx/>
                <a:latin typeface="Aptos"/>
              </a:rPr>
              <a:t>Project: code/02_dual_core_tasks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468000" y="1116000"/>
            <a:ext cx="4716000" cy="2448000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9DCE0"/>
            </a:solidFill>
          </a:ln>
        </p:spPr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205" name="Text"/>
          <p:cNvSpPr txBox="1"/>
          <p:nvPr/>
        </p:nvSpPr>
        <p:spPr>
          <a:xfrm>
            <a:off x="648000" y="1278000"/>
            <a:ext cx="4356000" cy="21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350" b="0" u="none" strike="noStrike">
                <a:solidFill>
                  <a:srgbClr val="242629"/>
                </a:solidFill>
                <a:effectLst/>
                <a:uFillTx/>
                <a:latin typeface="Aptos Mono"/>
              </a:rPr>
              <a:t>xTaskCreatePinnedToCore(</a:t>
            </a:r>
          </a:p>
          <a:p>
            <a:pPr>
              <a:lnSpc>
                <a:spcPct val="120000"/>
              </a:lnSpc>
            </a:pPr>
            <a:r>
              <a:rPr lang="en-US" sz="1350" b="0" u="none" strike="noStrike">
                <a:solidFill>
                  <a:srgbClr val="242629"/>
                </a:solidFill>
                <a:effectLst/>
                <a:uFillTx/>
                <a:latin typeface="Aptos Mono"/>
              </a:rPr>
              <a:t>periodic_task, "task_a", 3072,</a:t>
            </a:r>
          </a:p>
          <a:p>
            <a:pPr>
              <a:lnSpc>
                <a:spcPct val="120000"/>
              </a:lnSpc>
            </a:pPr>
            <a:r>
              <a:rPr lang="en-US" sz="1350" b="0" u="none" strike="noStrike">
                <a:solidFill>
                  <a:srgbClr val="242629"/>
                </a:solidFill>
                <a:effectLst/>
                <a:uFillTx/>
                <a:latin typeface="Aptos Mono"/>
              </a:rPr>
              <a:t>&amp;task_a_config, 5, NULL, 0);</a:t>
            </a:r>
          </a:p>
          <a:p>
            <a:pPr>
              <a:lnSpc>
                <a:spcPct val="120000"/>
              </a:lnSpc>
            </a:pPr>
            <a:endParaRPr lang="en-US" sz="1350" b="0" u="none" strike="noStrike">
              <a:solidFill>
                <a:srgbClr val="242629"/>
              </a:solidFill>
              <a:effectLst/>
              <a:uFillTx/>
              <a:latin typeface="Aptos Mono"/>
            </a:endParaRPr>
          </a:p>
          <a:p>
            <a:pPr>
              <a:lnSpc>
                <a:spcPct val="120000"/>
              </a:lnSpc>
            </a:pPr>
            <a:r>
              <a:rPr lang="en-US" sz="1350" b="0" u="none" strike="noStrike">
                <a:solidFill>
                  <a:srgbClr val="242629"/>
                </a:solidFill>
                <a:effectLst/>
                <a:uFillTx/>
                <a:latin typeface="Aptos Mono"/>
              </a:rPr>
              <a:t>xTaskCreatePinnedToCore(</a:t>
            </a:r>
          </a:p>
          <a:p>
            <a:pPr>
              <a:lnSpc>
                <a:spcPct val="120000"/>
              </a:lnSpc>
            </a:pPr>
            <a:r>
              <a:rPr lang="en-US" sz="1350" b="0" u="none" strike="noStrike">
                <a:solidFill>
                  <a:srgbClr val="242629"/>
                </a:solidFill>
                <a:effectLst/>
                <a:uFillTx/>
                <a:latin typeface="Aptos Mono"/>
              </a:rPr>
              <a:t>periodic_task, "task_b", 3072,</a:t>
            </a:r>
          </a:p>
          <a:p>
            <a:pPr>
              <a:lnSpc>
                <a:spcPct val="120000"/>
              </a:lnSpc>
            </a:pPr>
            <a:r>
              <a:rPr lang="en-US" sz="1350" b="0" u="none" strike="noStrike">
                <a:solidFill>
                  <a:srgbClr val="242629"/>
                </a:solidFill>
                <a:effectLst/>
                <a:uFillTx/>
                <a:latin typeface="Aptos Mono"/>
              </a:rPr>
              <a:t>&amp;task_b_config, 5, NULL, 1);</a:t>
            </a:r>
          </a:p>
        </p:txBody>
      </p:sp>
      <p:sp>
        <p:nvSpPr>
          <p:cNvPr id="206" name="Text"/>
          <p:cNvSpPr txBox="1"/>
          <p:nvPr/>
        </p:nvSpPr>
        <p:spPr>
          <a:xfrm>
            <a:off x="5616000" y="1116000"/>
            <a:ext cx="108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PREDICT</a:t>
            </a:r>
          </a:p>
        </p:txBody>
      </p:sp>
      <p:sp>
        <p:nvSpPr>
          <p:cNvPr id="207" name="Text"/>
          <p:cNvSpPr txBox="1"/>
          <p:nvPr/>
        </p:nvSpPr>
        <p:spPr>
          <a:xfrm>
            <a:off x="5616000" y="1314000"/>
            <a:ext cx="2772000" cy="48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900" b="0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Write down the first six task messages</a:t>
            </a:r>
          </a:p>
        </p:txBody>
      </p:sp>
      <p:sp>
        <p:nvSpPr>
          <p:cNvPr id="208" name="Text"/>
          <p:cNvSpPr txBox="1"/>
          <p:nvPr/>
        </p:nvSpPr>
        <p:spPr>
          <a:xfrm>
            <a:off x="5616000" y="2052000"/>
            <a:ext cx="108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OBSERVE</a:t>
            </a:r>
          </a:p>
        </p:txBody>
      </p:sp>
      <p:sp>
        <p:nvSpPr>
          <p:cNvPr id="209" name="Text"/>
          <p:cNvSpPr txBox="1"/>
          <p:nvPr/>
        </p:nvSpPr>
        <p:spPr>
          <a:xfrm>
            <a:off x="5616000" y="2250000"/>
            <a:ext cx="2772000" cy="48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900" b="0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Task A reports core 0; Task B reports core 1</a:t>
            </a:r>
          </a:p>
        </p:txBody>
      </p:sp>
      <p:sp>
        <p:nvSpPr>
          <p:cNvPr id="210" name="Text"/>
          <p:cNvSpPr txBox="1"/>
          <p:nvPr/>
        </p:nvSpPr>
        <p:spPr>
          <a:xfrm>
            <a:off x="5616000" y="2988000"/>
            <a:ext cx="108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REASON</a:t>
            </a:r>
          </a:p>
        </p:txBody>
      </p:sp>
      <p:sp>
        <p:nvSpPr>
          <p:cNvPr id="211" name="Text"/>
          <p:cNvSpPr txBox="1"/>
          <p:nvPr/>
        </p:nvSpPr>
        <p:spPr>
          <a:xfrm>
            <a:off x="5616000" y="3186000"/>
            <a:ext cx="2772000" cy="55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900" b="0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vTaskDelay() yields instead of wasting CPU time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468000" y="4464000"/>
            <a:ext cx="7920000" cy="558000"/>
          </a:xfrm>
          <a:prstGeom prst="roundRect">
            <a:avLst/>
          </a:prstGeom>
          <a:solidFill>
            <a:srgbClr val="FFF0EE"/>
          </a:solidFill>
          <a:ln w="14400">
            <a:noFill/>
            <a:round/>
          </a:ln>
        </p:spPr>
        <p:txBody>
          <a:bodyPr lIns="78120" tIns="33120" rIns="78120" bIns="3312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213" name="Text"/>
          <p:cNvSpPr txBox="1"/>
          <p:nvPr/>
        </p:nvSpPr>
        <p:spPr>
          <a:xfrm>
            <a:off x="648000" y="4615200"/>
            <a:ext cx="7560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6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CHECKPOINT 2 Show interleaved output from core 0 and core 1.</a:t>
            </a:r>
          </a:p>
        </p:txBody>
      </p:sp>
      <p:pic>
        <p:nvPicPr>
          <p:cNvPr id="214" name="FRI logo 9"/>
          <p:cNvPicPr/>
          <p:nvPr/>
        </p:nvPicPr>
        <p:blipFill>
          <a:blip r:embed="rId3"/>
          <a:stretch/>
        </p:blipFill>
        <p:spPr>
          <a:xfrm>
            <a:off x="234000" y="6066000"/>
            <a:ext cx="1278000" cy="4608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15" name="Slide number"/>
          <p:cNvSpPr txBox="1"/>
          <p:nvPr/>
        </p:nvSpPr>
        <p:spPr>
          <a:xfrm>
            <a:off x="7560000" y="6210000"/>
            <a:ext cx="1116000" cy="16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r"/>
            <a:r>
              <a:rPr lang="en-US" sz="850" u="none" strike="noStrike">
                <a:solidFill>
                  <a:srgbClr val="666A70"/>
                </a:solidFill>
                <a:effectLst/>
                <a:uFillTx/>
                <a:latin typeface="Aptos"/>
              </a:rPr>
              <a:t>LAB 1 / 06</a:t>
            </a:r>
          </a:p>
        </p:txBody>
      </p:sp>
      <p:sp>
        <p:nvSpPr>
          <p:cNvPr id="2" name="Step marker 1">
            <a:extLst>
              <a:ext uri="{FF2B5EF4-FFF2-40B4-BE49-F238E27FC236}">
                <a16:creationId xmlns:a16="http://schemas.microsoft.com/office/drawing/2014/main" id="{35543FE4-BB77-3845-8337-DAD069F1703A}"/>
              </a:ext>
            </a:extLst>
          </p:cNvPr>
          <p:cNvSpPr/>
          <p:nvPr/>
        </p:nvSpPr>
        <p:spPr>
          <a:xfrm>
            <a:off x="5295900" y="1066800"/>
            <a:ext cx="228600" cy="228600"/>
          </a:xfrm>
          <a:prstGeom prst="ellipse">
            <a:avLst/>
          </a:prstGeom>
          <a:solidFill>
            <a:srgbClr val="E03127"/>
          </a:solidFill>
          <a:ln w="6350" cap="flat" cmpd="sng" algn="ctr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" name="Step marker 2">
            <a:extLst>
              <a:ext uri="{FF2B5EF4-FFF2-40B4-BE49-F238E27FC236}">
                <a16:creationId xmlns:a16="http://schemas.microsoft.com/office/drawing/2014/main" id="{44D93201-5988-724E-8B42-58C144DC2A80}"/>
              </a:ext>
            </a:extLst>
          </p:cNvPr>
          <p:cNvSpPr/>
          <p:nvPr/>
        </p:nvSpPr>
        <p:spPr>
          <a:xfrm>
            <a:off x="5295900" y="2006600"/>
            <a:ext cx="228600" cy="228600"/>
          </a:xfrm>
          <a:prstGeom prst="ellipse">
            <a:avLst/>
          </a:prstGeom>
          <a:solidFill>
            <a:srgbClr val="E03127"/>
          </a:solidFill>
          <a:ln w="6350" cap="flat" cmpd="sng" algn="ctr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" name="Step marker 3">
            <a:extLst>
              <a:ext uri="{FF2B5EF4-FFF2-40B4-BE49-F238E27FC236}">
                <a16:creationId xmlns:a16="http://schemas.microsoft.com/office/drawing/2014/main" id="{A1BF3B87-07A3-024D-B54F-E5D855C87143}"/>
              </a:ext>
            </a:extLst>
          </p:cNvPr>
          <p:cNvSpPr/>
          <p:nvPr/>
        </p:nvSpPr>
        <p:spPr>
          <a:xfrm>
            <a:off x="5295900" y="2946400"/>
            <a:ext cx="228600" cy="228600"/>
          </a:xfrm>
          <a:prstGeom prst="ellipse">
            <a:avLst/>
          </a:prstGeom>
          <a:solidFill>
            <a:srgbClr val="E03127"/>
          </a:solidFill>
          <a:ln w="6350" cap="flat" cmpd="sng" algn="ctr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itle"/>
          <p:cNvSpPr txBox="1"/>
          <p:nvPr/>
        </p:nvSpPr>
        <p:spPr>
          <a:xfrm>
            <a:off x="432000" y="144000"/>
            <a:ext cx="8280000" cy="48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u="none" strike="noStrike">
                <a:solidFill>
                  <a:srgbClr val="242629"/>
                </a:solidFill>
                <a:effectLst/>
                <a:uFillTx/>
                <a:latin typeface="Aptos Display"/>
              </a:rPr>
              <a:t>Exercise 3: BOOT-button interrupt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450000" y="702000"/>
            <a:ext cx="792000" cy="36000"/>
          </a:xfrm>
          <a:prstGeom prst="roundRect">
            <a:avLst/>
          </a:prstGeom>
          <a:solidFill>
            <a:srgbClr val="E03127"/>
          </a:solidFill>
          <a:ln w="38160">
            <a:noFill/>
          </a:ln>
        </p:spPr>
        <p:txBody>
          <a:bodyPr lIns="90000" tIns="-9000" rIns="90000" bIns="-900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218" name="Subtitle"/>
          <p:cNvSpPr txBox="1"/>
          <p:nvPr/>
        </p:nvSpPr>
        <p:spPr>
          <a:xfrm>
            <a:off x="1332000" y="640800"/>
            <a:ext cx="6876000" cy="1872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150" u="none" strike="noStrike">
                <a:solidFill>
                  <a:srgbClr val="666A70"/>
                </a:solidFill>
                <a:effectLst/>
                <a:uFillTx/>
                <a:latin typeface="Aptos"/>
              </a:rPr>
              <a:t>Project: code/03_button_interrupt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84000" y="1440000"/>
            <a:ext cx="2052000" cy="1260000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9DCE0"/>
            </a:solidFill>
            <a:round/>
          </a:ln>
        </p:spPr>
        <p:txBody>
          <a:bodyPr lIns="78120" tIns="33120" rIns="78120" bIns="3312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220" name="Text"/>
          <p:cNvSpPr txBox="1"/>
          <p:nvPr/>
        </p:nvSpPr>
        <p:spPr>
          <a:xfrm>
            <a:off x="864000" y="1692000"/>
            <a:ext cx="169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9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GPIO0</a:t>
            </a:r>
          </a:p>
        </p:txBody>
      </p:sp>
      <p:sp>
        <p:nvSpPr>
          <p:cNvPr id="221" name="Text"/>
          <p:cNvSpPr txBox="1"/>
          <p:nvPr/>
        </p:nvSpPr>
        <p:spPr>
          <a:xfrm>
            <a:off x="864000" y="2124000"/>
            <a:ext cx="169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500" b="0" u="none" strike="noStrike">
                <a:solidFill>
                  <a:srgbClr val="242629"/>
                </a:solidFill>
                <a:effectLst/>
                <a:uFillTx/>
                <a:latin typeface="Aptos"/>
              </a:rPr>
              <a:t>falling edge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3528000" y="1440000"/>
            <a:ext cx="2052000" cy="1260000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9DCE0"/>
            </a:solidFill>
            <a:round/>
          </a:ln>
        </p:spPr>
        <p:txBody>
          <a:bodyPr lIns="78120" tIns="33120" rIns="78120" bIns="3312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223" name="Text"/>
          <p:cNvSpPr txBox="1"/>
          <p:nvPr/>
        </p:nvSpPr>
        <p:spPr>
          <a:xfrm>
            <a:off x="3708000" y="1692000"/>
            <a:ext cx="169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9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ISR</a:t>
            </a:r>
          </a:p>
        </p:txBody>
      </p:sp>
      <p:sp>
        <p:nvSpPr>
          <p:cNvPr id="224" name="Text"/>
          <p:cNvSpPr txBox="1"/>
          <p:nvPr/>
        </p:nvSpPr>
        <p:spPr>
          <a:xfrm>
            <a:off x="3708000" y="2124000"/>
            <a:ext cx="169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500" b="0" u="none" strike="noStrike">
                <a:solidFill>
                  <a:srgbClr val="242629"/>
                </a:solidFill>
                <a:effectLst/>
                <a:uFillTx/>
                <a:latin typeface="Aptos"/>
              </a:rPr>
              <a:t>notify only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6372000" y="1440000"/>
            <a:ext cx="2052000" cy="1260000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9DCE0"/>
            </a:solidFill>
            <a:round/>
          </a:ln>
        </p:spPr>
        <p:txBody>
          <a:bodyPr lIns="78120" tIns="33120" rIns="78120" bIns="3312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226" name="Text"/>
          <p:cNvSpPr txBox="1"/>
          <p:nvPr/>
        </p:nvSpPr>
        <p:spPr>
          <a:xfrm>
            <a:off x="6552000" y="1692000"/>
            <a:ext cx="169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9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TASK</a:t>
            </a:r>
          </a:p>
        </p:txBody>
      </p:sp>
      <p:sp>
        <p:nvSpPr>
          <p:cNvPr id="227" name="Text"/>
          <p:cNvSpPr txBox="1"/>
          <p:nvPr/>
        </p:nvSpPr>
        <p:spPr>
          <a:xfrm>
            <a:off x="6552000" y="2124000"/>
            <a:ext cx="169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500" b="0" u="none" strike="noStrike">
                <a:solidFill>
                  <a:srgbClr val="242629"/>
                </a:solidFill>
                <a:effectLst/>
                <a:uFillTx/>
                <a:latin typeface="Aptos"/>
              </a:rPr>
              <a:t>debounce + log</a:t>
            </a:r>
          </a:p>
        </p:txBody>
      </p:sp>
      <p:sp>
        <p:nvSpPr>
          <p:cNvPr id="228" name="Text"/>
          <p:cNvSpPr txBox="1"/>
          <p:nvPr/>
        </p:nvSpPr>
        <p:spPr>
          <a:xfrm>
            <a:off x="900000" y="3204000"/>
            <a:ext cx="7344000" cy="43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600" b="1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An ISR must not delay, block, allocate memory, or perform ordinary logging.</a:t>
            </a:r>
            <a:endParaRPr lang="en-US" sz="16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229" name="Rounded Rectangle 228"/>
          <p:cNvSpPr/>
          <p:nvPr/>
        </p:nvSpPr>
        <p:spPr>
          <a:xfrm>
            <a:off x="684000" y="4176000"/>
            <a:ext cx="7668000" cy="828000"/>
          </a:xfrm>
          <a:prstGeom prst="roundRect">
            <a:avLst/>
          </a:prstGeom>
          <a:solidFill>
            <a:srgbClr val="FFF0EE"/>
          </a:solidFill>
          <a:ln w="14400">
            <a:noFill/>
            <a:round/>
          </a:ln>
        </p:spPr>
        <p:txBody>
          <a:bodyPr lIns="78120" tIns="33120" rIns="78120" bIns="3312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230" name="Text"/>
          <p:cNvSpPr txBox="1"/>
          <p:nvPr/>
        </p:nvSpPr>
        <p:spPr>
          <a:xfrm>
            <a:off x="864000" y="4320000"/>
            <a:ext cx="7308000" cy="48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6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CHECKPOINT 3 Produce five deliberate events.</a:t>
            </a:r>
          </a:p>
          <a:p>
            <a:pPr algn="ctr"/>
            <a:r>
              <a:rPr lang="en-US" sz="16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Do not hold BOOT while resetting: GPIO0 low selects download mode.</a:t>
            </a:r>
          </a:p>
        </p:txBody>
      </p:sp>
      <p:pic>
        <p:nvPicPr>
          <p:cNvPr id="231" name="FRI logo 10"/>
          <p:cNvPicPr/>
          <p:nvPr/>
        </p:nvPicPr>
        <p:blipFill>
          <a:blip r:embed="rId3"/>
          <a:stretch/>
        </p:blipFill>
        <p:spPr>
          <a:xfrm>
            <a:off x="234000" y="6066000"/>
            <a:ext cx="1278000" cy="4608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32" name="Slide number"/>
          <p:cNvSpPr txBox="1"/>
          <p:nvPr/>
        </p:nvSpPr>
        <p:spPr>
          <a:xfrm>
            <a:off x="7560000" y="6210000"/>
            <a:ext cx="1116000" cy="16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r"/>
            <a:r>
              <a:rPr lang="en-US" sz="850" u="none" strike="noStrike">
                <a:solidFill>
                  <a:srgbClr val="666A70"/>
                </a:solidFill>
                <a:effectLst/>
                <a:uFillTx/>
                <a:latin typeface="Aptos"/>
              </a:rPr>
              <a:t>LAB 1 / 07</a:t>
            </a:r>
          </a:p>
        </p:txBody>
      </p:sp>
      <p:sp>
        <p:nvSpPr>
          <p:cNvPr id="2" name="Interrupt flow arrow 1">
            <a:extLst>
              <a:ext uri="{FF2B5EF4-FFF2-40B4-BE49-F238E27FC236}">
                <a16:creationId xmlns:a16="http://schemas.microsoft.com/office/drawing/2014/main" id="{43F9BE05-93ED-D346-B350-174E01BFA780}"/>
              </a:ext>
            </a:extLst>
          </p:cNvPr>
          <p:cNvSpPr/>
          <p:nvPr/>
        </p:nvSpPr>
        <p:spPr>
          <a:xfrm>
            <a:off x="2946400" y="1879600"/>
            <a:ext cx="355600" cy="304800"/>
          </a:xfrm>
          <a:prstGeom prst="rightArrow">
            <a:avLst/>
          </a:prstGeom>
          <a:solidFill>
            <a:srgbClr val="E03127"/>
          </a:solidFill>
          <a:ln w="6350" cap="flat" cmpd="sng" algn="ctr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Interrupt flow arrow 2">
            <a:extLst>
              <a:ext uri="{FF2B5EF4-FFF2-40B4-BE49-F238E27FC236}">
                <a16:creationId xmlns:a16="http://schemas.microsoft.com/office/drawing/2014/main" id="{E230C05B-07F0-404B-A028-278CFF7F9AEE}"/>
              </a:ext>
            </a:extLst>
          </p:cNvPr>
          <p:cNvSpPr/>
          <p:nvPr/>
        </p:nvSpPr>
        <p:spPr>
          <a:xfrm>
            <a:off x="5791200" y="1879600"/>
            <a:ext cx="355600" cy="304800"/>
          </a:xfrm>
          <a:prstGeom prst="rightArrow">
            <a:avLst/>
          </a:prstGeom>
          <a:solidFill>
            <a:srgbClr val="E03127"/>
          </a:solidFill>
          <a:ln w="6350" cap="flat" cmpd="sng" algn="ctr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itle"/>
          <p:cNvSpPr txBox="1"/>
          <p:nvPr/>
        </p:nvSpPr>
        <p:spPr>
          <a:xfrm>
            <a:off x="432000" y="144000"/>
            <a:ext cx="8280000" cy="48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500" b="1" u="none" strike="noStrike">
                <a:solidFill>
                  <a:srgbClr val="242629"/>
                </a:solidFill>
                <a:effectLst/>
                <a:uFillTx/>
                <a:latin typeface="Aptos Display"/>
              </a:rPr>
              <a:t>Exercise 4: Light-sleep and Deep-sleep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450000" y="702000"/>
            <a:ext cx="792000" cy="36000"/>
          </a:xfrm>
          <a:prstGeom prst="roundRect">
            <a:avLst/>
          </a:prstGeom>
          <a:solidFill>
            <a:srgbClr val="E03127"/>
          </a:solidFill>
          <a:ln w="38160">
            <a:noFill/>
          </a:ln>
        </p:spPr>
        <p:txBody>
          <a:bodyPr lIns="90000" tIns="-9000" rIns="90000" bIns="-900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235" name="Subtitle"/>
          <p:cNvSpPr txBox="1"/>
          <p:nvPr/>
        </p:nvSpPr>
        <p:spPr>
          <a:xfrm>
            <a:off x="1332000" y="640800"/>
            <a:ext cx="6876000" cy="1872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150" u="none" strike="noStrike">
                <a:solidFill>
                  <a:srgbClr val="666A70"/>
                </a:solidFill>
                <a:effectLst/>
                <a:uFillTx/>
                <a:latin typeface="Aptos"/>
              </a:rPr>
              <a:t>Project: code/04_sleep_modes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68000" y="1168400"/>
            <a:ext cx="3816000" cy="2984500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9DCE0"/>
            </a:solidFill>
            <a:round/>
          </a:ln>
        </p:spPr>
        <p:txBody>
          <a:bodyPr lIns="78120" tIns="33120" rIns="78120" bIns="3312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237" name="Text"/>
          <p:cNvSpPr txBox="1"/>
          <p:nvPr/>
        </p:nvSpPr>
        <p:spPr>
          <a:xfrm>
            <a:off x="720000" y="1332000"/>
            <a:ext cx="331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9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LIGHT-SLEEP</a:t>
            </a:r>
          </a:p>
        </p:txBody>
      </p:sp>
      <p:sp>
        <p:nvSpPr>
          <p:cNvPr id="238" name="Text"/>
          <p:cNvSpPr txBox="1"/>
          <p:nvPr/>
        </p:nvSpPr>
        <p:spPr>
          <a:xfrm>
            <a:off x="828000" y="1800000"/>
            <a:ext cx="3096000" cy="21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350" b="0" u="none" strike="noStrike">
                <a:solidFill>
                  <a:srgbClr val="242629"/>
                </a:solidFill>
                <a:effectLst/>
                <a:uFillTx/>
                <a:latin typeface="Aptos"/>
              </a:rPr>
              <a:t>CPU clocks stop</a:t>
            </a:r>
          </a:p>
          <a:p>
            <a:pPr algn="ctr"/>
            <a:endParaRPr lang="en-US" sz="1350" b="0" u="none" strike="noStrike">
              <a:solidFill>
                <a:srgbClr val="242629"/>
              </a:solidFill>
              <a:effectLst/>
              <a:uFillTx/>
              <a:latin typeface="Aptos"/>
            </a:endParaRPr>
          </a:p>
          <a:p>
            <a:pPr algn="ctr"/>
            <a:r>
              <a:rPr lang="en-US" sz="1350" b="0" u="none" strike="noStrike">
                <a:solidFill>
                  <a:srgbClr val="242629"/>
                </a:solidFill>
                <a:effectLst/>
                <a:uFillTx/>
                <a:latin typeface="Aptos"/>
              </a:rPr>
              <a:t>Most RAM is retained</a:t>
            </a:r>
          </a:p>
          <a:p>
            <a:pPr algn="ctr"/>
            <a:endParaRPr lang="en-US" sz="1350" b="0" u="none" strike="noStrike">
              <a:solidFill>
                <a:srgbClr val="242629"/>
              </a:solidFill>
              <a:effectLst/>
              <a:uFillTx/>
              <a:latin typeface="Aptos"/>
            </a:endParaRPr>
          </a:p>
          <a:p>
            <a:pPr algn="ctr"/>
            <a:r>
              <a:rPr lang="en-US" sz="1350" b="0" u="none" strike="noStrike">
                <a:solidFill>
                  <a:srgbClr val="242629"/>
                </a:solidFill>
                <a:effectLst/>
                <a:uFillTx/>
                <a:latin typeface="Aptos"/>
              </a:rPr>
              <a:t>Execution resumes after the call</a:t>
            </a:r>
          </a:p>
          <a:p>
            <a:pPr algn="ctr"/>
            <a:endParaRPr lang="en-US" sz="1350" b="0" u="none" strike="noStrike">
              <a:solidFill>
                <a:srgbClr val="242629"/>
              </a:solidFill>
              <a:effectLst/>
              <a:uFillTx/>
              <a:latin typeface="Aptos"/>
            </a:endParaRPr>
          </a:p>
          <a:p>
            <a:pPr algn="ctr"/>
            <a:r>
              <a:rPr lang="en-US" sz="1350" b="0" u="none" strike="noStrike">
                <a:solidFill>
                  <a:srgbClr val="242629"/>
                </a:solidFill>
                <a:effectLst/>
                <a:uFillTx/>
                <a:latin typeface="Aptos"/>
              </a:rPr>
              <a:t>esp_light_sleep_start();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4860000" y="1168400"/>
            <a:ext cx="3816000" cy="2984500"/>
          </a:xfrm>
          <a:prstGeom prst="roundRect">
            <a:avLst/>
          </a:prstGeom>
          <a:solidFill>
            <a:srgbClr val="FFF0EE"/>
          </a:solidFill>
          <a:ln w="9525">
            <a:solidFill>
              <a:srgbClr val="D9DCE0"/>
            </a:solidFill>
            <a:round/>
          </a:ln>
        </p:spPr>
        <p:txBody>
          <a:bodyPr lIns="78120" tIns="33120" rIns="78120" bIns="3312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240" name="Text"/>
          <p:cNvSpPr txBox="1"/>
          <p:nvPr/>
        </p:nvSpPr>
        <p:spPr>
          <a:xfrm>
            <a:off x="5112000" y="1332000"/>
            <a:ext cx="331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9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DEEP-SLEEP</a:t>
            </a:r>
          </a:p>
        </p:txBody>
      </p:sp>
      <p:sp>
        <p:nvSpPr>
          <p:cNvPr id="241" name="Text"/>
          <p:cNvSpPr txBox="1"/>
          <p:nvPr/>
        </p:nvSpPr>
        <p:spPr>
          <a:xfrm>
            <a:off x="5220000" y="1800000"/>
            <a:ext cx="3096000" cy="21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350" b="0" u="none" strike="noStrike">
                <a:solidFill>
                  <a:srgbClr val="242629"/>
                </a:solidFill>
                <a:effectLst/>
                <a:uFillTx/>
                <a:latin typeface="Aptos"/>
              </a:rPr>
              <a:t>CPU and most RAM power down</a:t>
            </a:r>
          </a:p>
          <a:p>
            <a:pPr algn="ctr"/>
            <a:endParaRPr lang="en-US" sz="1350" b="0" u="none" strike="noStrike">
              <a:solidFill>
                <a:srgbClr val="242629"/>
              </a:solidFill>
              <a:effectLst/>
              <a:uFillTx/>
              <a:latin typeface="Aptos"/>
            </a:endParaRPr>
          </a:p>
          <a:p>
            <a:pPr algn="ctr"/>
            <a:r>
              <a:rPr lang="en-US" sz="1350" b="0" u="none" strike="noStrike">
                <a:solidFill>
                  <a:srgbClr val="242629"/>
                </a:solidFill>
                <a:effectLst/>
                <a:uFillTx/>
                <a:latin typeface="Aptos"/>
              </a:rPr>
              <a:t>RTC memory may remain</a:t>
            </a:r>
          </a:p>
          <a:p>
            <a:pPr algn="ctr"/>
            <a:endParaRPr lang="en-US" sz="1350" b="0" u="none" strike="noStrike">
              <a:solidFill>
                <a:srgbClr val="242629"/>
              </a:solidFill>
              <a:effectLst/>
              <a:uFillTx/>
              <a:latin typeface="Aptos"/>
            </a:endParaRPr>
          </a:p>
          <a:p>
            <a:pPr algn="ctr"/>
            <a:r>
              <a:rPr lang="en-US" sz="1350" b="0" u="none" strike="noStrike">
                <a:solidFill>
                  <a:srgbClr val="242629"/>
                </a:solidFill>
                <a:effectLst/>
                <a:uFillTx/>
                <a:latin typeface="Aptos"/>
              </a:rPr>
              <a:t>Wake-up restarts app_main()</a:t>
            </a:r>
          </a:p>
          <a:p>
            <a:pPr algn="ctr"/>
            <a:endParaRPr lang="en-US" sz="1350" b="0" u="none" strike="noStrike">
              <a:solidFill>
                <a:srgbClr val="242629"/>
              </a:solidFill>
              <a:effectLst/>
              <a:uFillTx/>
              <a:latin typeface="Aptos"/>
            </a:endParaRPr>
          </a:p>
          <a:p>
            <a:pPr algn="ctr"/>
            <a:r>
              <a:rPr lang="en-US" sz="1350" b="0" u="none" strike="noStrike">
                <a:solidFill>
                  <a:srgbClr val="242629"/>
                </a:solidFill>
                <a:effectLst/>
                <a:uFillTx/>
                <a:latin typeface="Aptos"/>
              </a:rPr>
              <a:t>esp_deep_sleep_start();</a:t>
            </a:r>
          </a:p>
        </p:txBody>
      </p:sp>
      <p:sp>
        <p:nvSpPr>
          <p:cNvPr id="242" name="Text"/>
          <p:cNvSpPr txBox="1"/>
          <p:nvPr/>
        </p:nvSpPr>
        <p:spPr>
          <a:xfrm>
            <a:off x="900000" y="4292600"/>
            <a:ext cx="7344000" cy="45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300" b="1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Direct Light-sleep and Deep-sleep do not retain Wi-Fi. Modem-sleep + automatic Light-sleep is separate.</a:t>
            </a:r>
            <a:endParaRPr lang="en-US" sz="13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243" name="Rounded Rectangle 242"/>
          <p:cNvSpPr/>
          <p:nvPr/>
        </p:nvSpPr>
        <p:spPr>
          <a:xfrm>
            <a:off x="900000" y="4940300"/>
            <a:ext cx="7344000" cy="432000"/>
          </a:xfrm>
          <a:prstGeom prst="roundRect">
            <a:avLst/>
          </a:prstGeom>
          <a:solidFill>
            <a:srgbClr val="FFF0EE"/>
          </a:solidFill>
          <a:ln w="9000">
            <a:noFill/>
            <a:round/>
          </a:ln>
        </p:spPr>
        <p:txBody>
          <a:bodyPr lIns="75600" tIns="30600" rIns="75600" bIns="3060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244" name="Text"/>
          <p:cNvSpPr txBox="1"/>
          <p:nvPr/>
        </p:nvSpPr>
        <p:spPr>
          <a:xfrm>
            <a:off x="1044000" y="5041900"/>
            <a:ext cx="7056000" cy="23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25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CHECKPOINT 4 Show resume after Light-sleep and reboot after Deep-sleep.</a:t>
            </a:r>
          </a:p>
        </p:txBody>
      </p:sp>
      <p:pic>
        <p:nvPicPr>
          <p:cNvPr id="245" name="FRI logo 11"/>
          <p:cNvPicPr/>
          <p:nvPr/>
        </p:nvPicPr>
        <p:blipFill>
          <a:blip r:embed="rId3"/>
          <a:stretch/>
        </p:blipFill>
        <p:spPr>
          <a:xfrm>
            <a:off x="234000" y="6066000"/>
            <a:ext cx="1278000" cy="4608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46" name="Slide number"/>
          <p:cNvSpPr txBox="1"/>
          <p:nvPr/>
        </p:nvSpPr>
        <p:spPr>
          <a:xfrm>
            <a:off x="7560000" y="6210000"/>
            <a:ext cx="1116000" cy="16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r"/>
            <a:r>
              <a:rPr lang="en-US" sz="850" u="none" strike="noStrike">
                <a:solidFill>
                  <a:srgbClr val="666A70"/>
                </a:solidFill>
                <a:effectLst/>
                <a:uFillTx/>
                <a:latin typeface="Aptos"/>
              </a:rPr>
              <a:t>LAB 1 /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itle"/>
          <p:cNvSpPr txBox="1"/>
          <p:nvPr/>
        </p:nvSpPr>
        <p:spPr>
          <a:xfrm>
            <a:off x="432000" y="144000"/>
            <a:ext cx="8280000" cy="48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700" b="1" u="none" strike="noStrike">
                <a:solidFill>
                  <a:srgbClr val="242629"/>
                </a:solidFill>
                <a:effectLst/>
                <a:uFillTx/>
                <a:latin typeface="Aptos Display"/>
              </a:rPr>
              <a:t>Completion checklist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450000" y="702000"/>
            <a:ext cx="792000" cy="36000"/>
          </a:xfrm>
          <a:prstGeom prst="roundRect">
            <a:avLst/>
          </a:prstGeom>
          <a:solidFill>
            <a:srgbClr val="E03127"/>
          </a:solidFill>
          <a:ln w="38160">
            <a:noFill/>
          </a:ln>
        </p:spPr>
        <p:txBody>
          <a:bodyPr lIns="90000" tIns="-9000" rIns="90000" bIns="-900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249" name="Subtitle"/>
          <p:cNvSpPr txBox="1"/>
          <p:nvPr/>
        </p:nvSpPr>
        <p:spPr>
          <a:xfrm>
            <a:off x="1332000" y="640800"/>
            <a:ext cx="6876000" cy="1872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150" u="none" strike="noStrike">
                <a:solidFill>
                  <a:srgbClr val="666A70"/>
                </a:solidFill>
                <a:effectLst/>
                <a:uFillTx/>
                <a:latin typeface="Aptos"/>
              </a:rPr>
              <a:t>Four demonstrations and four short explanations</a:t>
            </a:r>
          </a:p>
        </p:txBody>
      </p:sp>
      <p:sp>
        <p:nvSpPr>
          <p:cNvPr id="250" name="Text"/>
          <p:cNvSpPr txBox="1"/>
          <p:nvPr/>
        </p:nvSpPr>
        <p:spPr>
          <a:xfrm>
            <a:off x="576000" y="1080000"/>
            <a:ext cx="648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28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01</a:t>
            </a:r>
          </a:p>
        </p:txBody>
      </p:sp>
      <p:sp>
        <p:nvSpPr>
          <p:cNvPr id="251" name="Text"/>
          <p:cNvSpPr txBox="1"/>
          <p:nvPr/>
        </p:nvSpPr>
        <p:spPr>
          <a:xfrm>
            <a:off x="1476000" y="1080000"/>
            <a:ext cx="1512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SYSTEM</a:t>
            </a:r>
          </a:p>
        </p:txBody>
      </p:sp>
      <p:sp>
        <p:nvSpPr>
          <p:cNvPr id="252" name="Text"/>
          <p:cNvSpPr txBox="1"/>
          <p:nvPr/>
        </p:nvSpPr>
        <p:spPr>
          <a:xfrm>
            <a:off x="1476000" y="1296000"/>
            <a:ext cx="32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900" b="0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Chip information and heartbeat</a:t>
            </a:r>
          </a:p>
        </p:txBody>
      </p:sp>
      <p:sp>
        <p:nvSpPr>
          <p:cNvPr id="253" name="Text"/>
          <p:cNvSpPr txBox="1"/>
          <p:nvPr/>
        </p:nvSpPr>
        <p:spPr>
          <a:xfrm>
            <a:off x="576000" y="2052000"/>
            <a:ext cx="648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28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02</a:t>
            </a:r>
          </a:p>
        </p:txBody>
      </p:sp>
      <p:sp>
        <p:nvSpPr>
          <p:cNvPr id="254" name="Text"/>
          <p:cNvSpPr txBox="1"/>
          <p:nvPr/>
        </p:nvSpPr>
        <p:spPr>
          <a:xfrm>
            <a:off x="1476000" y="2052000"/>
            <a:ext cx="1512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CORES</a:t>
            </a:r>
          </a:p>
        </p:txBody>
      </p:sp>
      <p:sp>
        <p:nvSpPr>
          <p:cNvPr id="255" name="Text"/>
          <p:cNvSpPr txBox="1"/>
          <p:nvPr/>
        </p:nvSpPr>
        <p:spPr>
          <a:xfrm>
            <a:off x="1476000" y="2268000"/>
            <a:ext cx="3556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600" b="0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Output from core 0 and core 1</a:t>
            </a:r>
          </a:p>
        </p:txBody>
      </p:sp>
      <p:sp>
        <p:nvSpPr>
          <p:cNvPr id="256" name="Text"/>
          <p:cNvSpPr txBox="1"/>
          <p:nvPr/>
        </p:nvSpPr>
        <p:spPr>
          <a:xfrm>
            <a:off x="576000" y="3024000"/>
            <a:ext cx="648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28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03</a:t>
            </a:r>
          </a:p>
        </p:txBody>
      </p:sp>
      <p:sp>
        <p:nvSpPr>
          <p:cNvPr id="257" name="Text"/>
          <p:cNvSpPr txBox="1"/>
          <p:nvPr/>
        </p:nvSpPr>
        <p:spPr>
          <a:xfrm>
            <a:off x="1476000" y="3024000"/>
            <a:ext cx="1512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INTERRUPT</a:t>
            </a:r>
          </a:p>
        </p:txBody>
      </p:sp>
      <p:sp>
        <p:nvSpPr>
          <p:cNvPr id="258" name="Text"/>
          <p:cNvSpPr txBox="1"/>
          <p:nvPr/>
        </p:nvSpPr>
        <p:spPr>
          <a:xfrm>
            <a:off x="1476000" y="3240000"/>
            <a:ext cx="32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900" b="0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Five clean BOOT-button events</a:t>
            </a:r>
          </a:p>
        </p:txBody>
      </p:sp>
      <p:sp>
        <p:nvSpPr>
          <p:cNvPr id="259" name="Text"/>
          <p:cNvSpPr txBox="1"/>
          <p:nvPr/>
        </p:nvSpPr>
        <p:spPr>
          <a:xfrm>
            <a:off x="576000" y="3996000"/>
            <a:ext cx="648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28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04</a:t>
            </a:r>
          </a:p>
        </p:txBody>
      </p:sp>
      <p:sp>
        <p:nvSpPr>
          <p:cNvPr id="260" name="Text"/>
          <p:cNvSpPr txBox="1"/>
          <p:nvPr/>
        </p:nvSpPr>
        <p:spPr>
          <a:xfrm>
            <a:off x="1476000" y="3996000"/>
            <a:ext cx="1512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3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SLEEP</a:t>
            </a:r>
          </a:p>
        </p:txBody>
      </p:sp>
      <p:sp>
        <p:nvSpPr>
          <p:cNvPr id="261" name="Text"/>
          <p:cNvSpPr txBox="1"/>
          <p:nvPr/>
        </p:nvSpPr>
        <p:spPr>
          <a:xfrm>
            <a:off x="1476000" y="4212000"/>
            <a:ext cx="32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900" b="0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Resume versus reboot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5220000" y="1080000"/>
            <a:ext cx="3168000" cy="3744000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9DCE0"/>
            </a:solidFill>
            <a:round/>
          </a:ln>
        </p:spPr>
        <p:txBody>
          <a:bodyPr lIns="75600" tIns="30600" rIns="75600" bIns="30600" anchor="t">
            <a:noAutofit/>
          </a:bodyPr>
          <a:lstStyle/>
          <a:p>
            <a:endParaRPr lang="en-US" sz="18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</p:txBody>
      </p:sp>
      <p:sp>
        <p:nvSpPr>
          <p:cNvPr id="263" name="Text"/>
          <p:cNvSpPr txBox="1"/>
          <p:nvPr/>
        </p:nvSpPr>
        <p:spPr>
          <a:xfrm>
            <a:off x="5472000" y="1332000"/>
            <a:ext cx="2664000" cy="19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600" b="1" u="none" strike="noStrike">
                <a:solidFill>
                  <a:srgbClr val="E03127"/>
                </a:solidFill>
                <a:effectLst/>
                <a:uFillTx/>
                <a:latin typeface="Aptos"/>
              </a:rPr>
              <a:t>BE READY TO EXPLAIN</a:t>
            </a:r>
          </a:p>
        </p:txBody>
      </p:sp>
      <p:sp>
        <p:nvSpPr>
          <p:cNvPr id="264" name="Text"/>
          <p:cNvSpPr txBox="1"/>
          <p:nvPr/>
        </p:nvSpPr>
        <p:spPr>
          <a:xfrm>
            <a:off x="5544000" y="1800000"/>
            <a:ext cx="2520000" cy="248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600" b="0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ESP-IDF vs FreeRTOS</a:t>
            </a:r>
          </a:p>
          <a:p>
            <a:pPr algn="ctr"/>
            <a:endParaRPr lang="en-US" sz="16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  <a:p>
            <a:pPr algn="ctr"/>
            <a:r>
              <a:rPr lang="en-US" sz="1600" b="0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Why tasks call vTaskDelay()</a:t>
            </a:r>
          </a:p>
          <a:p>
            <a:pPr algn="ctr"/>
            <a:endParaRPr lang="en-US" sz="16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  <a:p>
            <a:pPr algn="ctr"/>
            <a:r>
              <a:rPr lang="en-US" sz="1600" b="0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Why the ISR only notifies</a:t>
            </a:r>
          </a:p>
          <a:p>
            <a:pPr algn="ctr"/>
            <a:endParaRPr lang="en-US" sz="1600" b="0" u="none" strike="noStrike">
              <a:solidFill>
                <a:srgbClr val="292B2E"/>
              </a:solidFill>
              <a:effectLst/>
              <a:uFillTx/>
              <a:latin typeface="Aptos"/>
            </a:endParaRPr>
          </a:p>
          <a:p>
            <a:pPr algn="ctr"/>
            <a:r>
              <a:rPr lang="en-US" sz="1600" b="0" u="none" strike="noStrike">
                <a:solidFill>
                  <a:srgbClr val="292B2E"/>
                </a:solidFill>
                <a:effectLst/>
                <a:uFillTx/>
                <a:latin typeface="Aptos"/>
              </a:rPr>
              <a:t>What survives each sleep mode</a:t>
            </a:r>
          </a:p>
        </p:txBody>
      </p:sp>
      <p:pic>
        <p:nvPicPr>
          <p:cNvPr id="265" name="FRI logo 12"/>
          <p:cNvPicPr/>
          <p:nvPr/>
        </p:nvPicPr>
        <p:blipFill>
          <a:blip r:embed="rId3"/>
          <a:stretch/>
        </p:blipFill>
        <p:spPr>
          <a:xfrm>
            <a:off x="234000" y="6066000"/>
            <a:ext cx="1278000" cy="4608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66" name="Slide number"/>
          <p:cNvSpPr txBox="1"/>
          <p:nvPr/>
        </p:nvSpPr>
        <p:spPr>
          <a:xfrm>
            <a:off x="7560000" y="6210000"/>
            <a:ext cx="1116000" cy="16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r"/>
            <a:r>
              <a:rPr lang="en-US" sz="850" u="none" strike="noStrike">
                <a:solidFill>
                  <a:srgbClr val="666A70"/>
                </a:solidFill>
                <a:effectLst/>
                <a:uFillTx/>
                <a:latin typeface="Aptos"/>
              </a:rPr>
              <a:t>LAB 1 / 09</a:t>
            </a:r>
          </a:p>
        </p:txBody>
      </p:sp>
      <p:sp>
        <p:nvSpPr>
          <p:cNvPr id="2" name="Home setup tutorial">
            <a:hlinkClick r:id="rId4" tooltip="Click to open the VS Code and ESP-IDF setup tutorial at 7:27"/>
            <a:extLst>
              <a:ext uri="{FF2B5EF4-FFF2-40B4-BE49-F238E27FC236}">
                <a16:creationId xmlns:a16="http://schemas.microsoft.com/office/drawing/2014/main" id="{49554B7D-4D32-3642-82F6-68FA07BE4F63}"/>
              </a:ext>
            </a:extLst>
          </p:cNvPr>
          <p:cNvSpPr/>
          <p:nvPr/>
        </p:nvSpPr>
        <p:spPr>
          <a:xfrm>
            <a:off x="656216" y="4968000"/>
            <a:ext cx="7725784" cy="810500"/>
          </a:xfrm>
          <a:prstGeom prst="roundRect">
            <a:avLst/>
          </a:prstGeom>
          <a:solidFill>
            <a:srgbClr val="E03127"/>
          </a:solidFill>
          <a:ln w="6350" cap="flat" cmpd="sng" algn="ctr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2800" b="1" u="sng" dirty="0">
                <a:solidFill>
                  <a:srgbClr val="FFFFFF"/>
                </a:solidFill>
                <a:latin typeface="Aptos"/>
              </a:rPr>
              <a:t>CLICK TO OPEN HOME SETUP VIDEO
https://</a:t>
            </a:r>
            <a:r>
              <a:rPr lang="en-US" sz="2800" b="1" u="sng" dirty="0" err="1">
                <a:solidFill>
                  <a:srgbClr val="FFFFFF"/>
                </a:solidFill>
                <a:latin typeface="Aptos"/>
              </a:rPr>
              <a:t>youtu.be</a:t>
            </a:r>
            <a:r>
              <a:rPr lang="en-US" sz="2800" b="1" u="sng" dirty="0">
                <a:solidFill>
                  <a:srgbClr val="FFFFFF"/>
                </a:solidFill>
                <a:latin typeface="Aptos"/>
              </a:rPr>
              <a:t>/y2pIqbZa-iA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2B9CCC3-3521-B143-B805-07395C40FB7A}">
  <we:reference id="WA200010215" version="2.0.0.1" store="Omex" storeType="OMEX"/>
  <we:alternateReferences>
    <we:reference id="WA200010215" version="2.0.0.1" store="WA200010215" storeType="OMEX"/>
  </we:alternateReferences>
  <we:properties>
    <we:property name="bps.codex_control.document_id" value="&quot;7b3c4201-88d5-40a3-9f64-ff499185a6b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25836</TotalTime>
  <Words>1060</Words>
  <Application>Microsoft Macintosh PowerPoint</Application>
  <PresentationFormat>On-screen Show (4:3)</PresentationFormat>
  <Paragraphs>149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9</vt:i4>
      </vt:variant>
    </vt:vector>
  </HeadingPairs>
  <TitlesOfParts>
    <vt:vector size="30" baseType="lpstr">
      <vt:lpstr>Aptos</vt:lpstr>
      <vt:lpstr>Aptos Display</vt:lpstr>
      <vt:lpstr>Aptos Mono</vt:lpstr>
      <vt:lpstr>Arial</vt:lpstr>
      <vt:lpstr>Calibri</vt:lpstr>
      <vt:lpstr>Roboto</vt:lpstr>
      <vt:lpstr>Symbol</vt:lpstr>
      <vt:lpstr>Times New Roman</vt:lpstr>
      <vt:lpstr>Wingdings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Veljko Pejovic</dc:creator>
  <dc:description/>
  <cp:lastModifiedBy>Janez Bozic</cp:lastModifiedBy>
  <cp:revision>466</cp:revision>
  <dcterms:created xsi:type="dcterms:W3CDTF">2015-02-20T13:25:18Z</dcterms:created>
  <dcterms:modified xsi:type="dcterms:W3CDTF">2026-10-13T19:48:31Z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52</vt:r8>
  </property>
  <property fmtid="{D5CDD505-2E9C-101B-9397-08002B2CF9AE}" pid="3" name="PresentationFormat">
    <vt:lpwstr>On-screen Show (4:3)</vt:lpwstr>
  </property>
  <property fmtid="{D5CDD505-2E9C-101B-9397-08002B2CF9AE}" pid="4" name="Slides">
    <vt:r8>57</vt:r8>
  </property>
</Properties>
</file>